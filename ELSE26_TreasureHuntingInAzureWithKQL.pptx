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332" r:id="rId5"/>
    <p:sldId id="321" r:id="rId6"/>
    <p:sldId id="34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3" r:id="rId17"/>
    <p:sldId id="344" r:id="rId18"/>
    <p:sldId id="345" r:id="rId19"/>
    <p:sldId id="358" r:id="rId20"/>
    <p:sldId id="359" r:id="rId21"/>
    <p:sldId id="361" r:id="rId22"/>
    <p:sldId id="348" r:id="rId23"/>
    <p:sldId id="360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56" r:id="rId32"/>
    <p:sldId id="357" r:id="rId33"/>
    <p:sldId id="324" r:id="rId3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s" id="{C58087A3-450B-4B4E-A6A3-2715F27AE7DD}">
          <p14:sldIdLst>
            <p14:sldId id="332"/>
            <p14:sldId id="321"/>
            <p14:sldId id="34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3"/>
            <p14:sldId id="344"/>
            <p14:sldId id="345"/>
            <p14:sldId id="358"/>
            <p14:sldId id="359"/>
            <p14:sldId id="361"/>
            <p14:sldId id="348"/>
            <p14:sldId id="360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</p14:sldIdLst>
        </p14:section>
        <p14:section name="Speaker presentation" id="{DD9F438E-6775-4DA2-9EF1-0D790C1E2A12}">
          <p14:sldIdLst/>
        </p14:section>
        <p14:section name="Session content" id="{2D942C1D-45C7-4062-AB92-81A3FE638D83}">
          <p14:sldIdLst/>
        </p14:section>
        <p14:section name="End" id="{07B014FB-523A-4D3C-B9D8-93F7685B4BBC}">
          <p14:sldIdLst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8BD2"/>
    <a:srgbClr val="1E3480"/>
    <a:srgbClr val="F0F3F6"/>
    <a:srgbClr val="1A2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1" autoAdjust="0"/>
    <p:restoredTop sz="84300" autoAdjust="0"/>
  </p:normalViewPr>
  <p:slideViewPr>
    <p:cSldViewPr snapToGrid="0">
      <p:cViewPr>
        <p:scale>
          <a:sx n="68" d="100"/>
          <a:sy n="68" d="100"/>
        </p:scale>
        <p:origin x="840" y="9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567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EC377512-493B-9E00-AAE8-1F3835CDA5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7CDAD41-4318-2D6B-BE93-162BA3EAAC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121D3-5551-41DB-AC5C-875FAACFADC2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2E9DCFE-4567-6AD3-7990-A06B5506F1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83632A9-C241-FA0C-AB0F-C613FDBBA3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3FABE-4F8E-40DF-83A5-18BAFB40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60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4:22:37.181"/>
    </inkml:context>
    <inkml:brush xml:id="br0">
      <inkml:brushProperty name="width" value="0.28222" units="cm"/>
      <inkml:brushProperty name="height" value="0.28222" units="cm"/>
      <inkml:brushProperty name="color" value="#EE2924"/>
    </inkml:brush>
  </inkml:definitions>
  <inkml:trace contextRef="#ctx0" brushRef="#br0">1 1 24575,'355'30'0,"4"1"0,-4-1 0,-14-7 0,37 1 0,35-2 0,21 3 0,15 5 0,13 0 0,3 4-894,-106-1 0,11 0 1,9 5-1,2 1 0,12 2 1,5 3-1,3-4 0,10 3 1,2-2-1,3-1 0,6-2 787,-36-10 1,7 3-1,5-1 1,6-3 0,1 0-1,7 1 1,3-3-1,4 3 1,2-1 0,2 3-1,4 0 1,1 1-1,2 5 1,5 0-21,-41 2 0,2-1 0,9-1 1,7 5-1,-1 3 0,2-5 0,3 5 1,3 0-1,2 3 0,-6-3 1,1 3-1,-1 0 0,-2-1 0,-5 1 1,1 3-1,-13-3 0,2 0 127,36 8 0,0-2 0,2 4 0,-5-4 0,-5 5 0,-2-1 0,-1-1 0,-4 2 0,-3-1 0,-3-1 0,-1 5 0,-7-4 0,-1 4 0,-3 0-38,18-2 0,4 6 1,1-2-1,-4 1 1,-4 0-1,-7 2 1,-3-2-1,-8 4 1,-9-5-1,-11 4 1,-10-3-1,-17 2 38,110 25 0,-7 0 0,-16 3 0,-19 0 0,-25-7 0,-34-3 0,-47-7 0,54 20 0,-54-9 0,-93-22 0,-89-28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4:22:37.182"/>
    </inkml:context>
    <inkml:brush xml:id="br0">
      <inkml:brushProperty name="width" value="0.28222" units="cm"/>
      <inkml:brushProperty name="height" value="0.28222" units="cm"/>
      <inkml:brushProperty name="color" value="#EE2924"/>
    </inkml:brush>
  </inkml:definitions>
  <inkml:trace contextRef="#ctx0" brushRef="#br0">1 3167 24575,'298'-60'0,"1"2"0,4-2 0,25 10 0,25 6 0,17-3 0,16 0 0,-73 3 0,8 2 0,11-5 0,13 0 0,18 0 0,18 3-1093,-21 11 1,22-2 0,14 2 0,17 2-1,6 1 1,9-3 0,3-1 0,0 1-1,-7-8 957,-55 5 1,-2-5-1,4-1 1,-5-2-1,9 0 1,-2-3 0,10 3-1,1-3 1,10 3-1,11-3 1,11 3-9,-38 8 0,8 0 1,15-2-1,2 1 0,13 4 1,3-5-1,2 2 1,5 0-1,-2-2 0,2 1 1,-2 1-1,-4-2 0,-4 2 1,-4-2-1,-11-1 144,-4-2 0,-5 1 0,-6-4 0,0 1 0,-4-1 0,-4-3 0,4 3 0,-4 1 0,3-1 0,2 1 0,2 2 0,1 4 0,7-4 0,3 8-44,8 0 1,12 3 0,5 2 0,10 0 0,3 3 0,2-2 0,-2 4 0,-3-1-1,0 1 1,-12 2 0,-6-1 0,-12 2 0,-13-4 0,-17 1 0,-16 2 43,99-13 0,-20 1 0,-21 0 0,-12-1 0,-15 4 0,-10 3 0,-5 7 0,-1 4 0,81 5 0,18 11 0,-5 3 0,-48 5 0,-75 1 0,-114-5 0,-81-1 0,-146 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4:57.436"/>
    </inkml:context>
    <inkml:brush xml:id="br0">
      <inkml:brushProperty name="width" value="0.1" units="cm"/>
      <inkml:brushProperty name="height" value="0.1" units="cm"/>
      <inkml:brushProperty name="color" value="#E3E3E3"/>
    </inkml:brush>
  </inkml:definitions>
  <inkml:trace contextRef="#ctx0" brushRef="#br0">0 1 24575,'9'87'0,"-3"78"0,-6 104 0,0 55 0,0-123 0,0 8 0,6 2 0,9 2-1053,10 24 1,8 7 1052,6-7 0,14-3 0,35 18 0,16-3 0,-1-21 0,7-6 0,7-19 0,10-7 0,35 39 0,15-7 0,-4-35 0,19-1 0,-3-33 0,16 2 0,-1-6-834,45 26 0,5-10 834,44-4 0,-2-14 0,-79-45 0,2-4 0,20 8 0,-2-2 52,-24-20 0,-8 0-52,-1-6 0,-12-6 0,113 46 0,-73-40 937,-43-6-937,-58-27 1837,-49-16-1837,-46-11 895,-18-14-895,-12 5 0,-4-9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4:57.437"/>
    </inkml:context>
    <inkml:brush xml:id="br0">
      <inkml:brushProperty name="width" value="0.1" units="cm"/>
      <inkml:brushProperty name="height" value="0.1" units="cm"/>
      <inkml:brushProperty name="color" value="#E3E3E3"/>
    </inkml:brush>
  </inkml:definitions>
  <inkml:trace contextRef="#ctx0" brushRef="#br0">1 1250 24575,'80'0'0,"13"0"0,43 0 0,43 0 0,46 0 0,-72 0 0,-3 0 0,50 0 0,53 0 0,-140 0 0,13 0 0,-60 0 0,-18-4 0,-44-4 0,-4 1 0,-4-1 0,-4 2 0,7-3 0,-7 0 0,4 2 0,-5-1 0,-2-1 0,2 0 0,-6-4 0,-3-4 0,-4-7 0,-23-28 0,-18-25 0,-29-29 0,-43-44 0,23 35 0,-28-26 0,-31-15 0,76 65 0,-43-35 0,102 94 0,3 8 0,15 11 0,8 4 0,5 3 0,-2-2 0,2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4:57.438"/>
    </inkml:context>
    <inkml:brush xml:id="br0">
      <inkml:brushProperty name="width" value="0.1" units="cm"/>
      <inkml:brushProperty name="height" value="0.1" units="cm"/>
      <inkml:brushProperty name="color" value="#E3E3E3"/>
    </inkml:brush>
  </inkml:definitions>
  <inkml:trace contextRef="#ctx0" brushRef="#br0">1950 1 24575,'0'39'0,"0"36"0,0 51 0,0 27 0,0 36 0,-7 3 0,-5 24 0,-3 2-1758,-3 10 1,-2 1 0,-5 8 1757,4-39 0,-5 3 0,1 0 0,-5-10 0,-8 14 0,-5-13 0,-2 2-491,-6-1 1,-2-5 0,1 2 490,-7-7 0,-3 0 0,-1-3 0,-4 14 0,-2-4 0,1-7-548,-23 50 0,-1-16 548,9-34 0,4-16-128,22-46 1,1-14 127,-28 43 3097,7-17-3097,22-46 2982,-2 3-2982,10-28 1601,13-13-1601,2-11 414,2 1-414,0-2 0,2-5 0,-2 8 0,15-19 0,-5 12 0,10-21 0,2 3 0,1-4 0,-1-6 0,1-2 0,-1-3 0,1 0 0,1-3 0,-2-2 0,4-6 0,-2 1 0,4 2 0,2 4 0,-3-4 0,3 1 0,0-2 0,0 3 0,0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4:57.439"/>
    </inkml:context>
    <inkml:brush xml:id="br0">
      <inkml:brushProperty name="width" value="0.1" units="cm"/>
      <inkml:brushProperty name="height" value="0.1" units="cm"/>
      <inkml:brushProperty name="color" value="#E3E3E3"/>
    </inkml:brush>
  </inkml:definitions>
  <inkml:trace contextRef="#ctx0" brushRef="#br0">68 1 24575,'0'45'0,"0"3"0,0 39 0,0-22 0,0 65 0,0-59 0,0 19 0,0-38 0,0-14 0,0-7 0,0-2 0,0-11 0,0 1 0,0-5 0,0-5 0,0 0 0,0-3 0,0-2 0,0 4 0,0-2 0,0 1 0,0-1 0,0 2 0,0-2 0,0-2 0,0 2 0,0 2 0,-2 1 0,-1 0 0,-1 0 0,2 0 0,-2 3 0,-1 6 0,-2 19 0,1-1 0,-2 9 0,4-12 0,-1-1 0,1-2 0,2-5 0,-2-5 0,1-5 0,1-6 0,-1-2 0,21-28 0,9 2 0,33-23 0,14 6 0,83-21 0,-41 15 0,40-14 0,-69 26 0,-6 0 0,-9 0 0,-7 5 0,-19 2 0,-11 10 0,-14 4 0,-8 3 0,-4 3 0,-3-2 0,2 4 0,5-4 0,5 1 0,8-1 0,-2-2 0,-2 2 0,-1 1 0,-3 1 0,-1-2 0,-4 2 0,-7 2 0,-3-7 0,-3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4:57.440"/>
    </inkml:context>
    <inkml:brush xml:id="br0">
      <inkml:brushProperty name="width" value="0.1" units="cm"/>
      <inkml:brushProperty name="height" value="0.1" units="cm"/>
      <inkml:brushProperty name="color" value="#E3E3E3"/>
    </inkml:brush>
  </inkml:definitions>
  <inkml:trace contextRef="#ctx0" brushRef="#br0">0 0 24575,'8'134'0,"-4"46"0,-4 7 0,0 13-460,0-50 0,0 7 460,0 31 0,0 23 0,0-4-1112,0-42 1,0-4 0,0 1 1111,0 5 0,0-4 0,0-1 0,0 59 0,0-23 940,0-2-940,0-43 0,0-55 0,0-25 399,0-37-399,0-36 2876,0-37-2876,0-8 39,0-17-39,0 11 0,0 17 0,0 4 0,0 16 0,0 5 0,0 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4:57.441"/>
    </inkml:context>
    <inkml:brush xml:id="br0">
      <inkml:brushProperty name="width" value="0.1" units="cm"/>
      <inkml:brushProperty name="height" value="0.1" units="cm"/>
      <inkml:brushProperty name="color" value="#E3E3E3"/>
    </inkml:brush>
  </inkml:definitions>
  <inkml:trace contextRef="#ctx0" brushRef="#br0">1 0 24575,'8'27'0,"7"11"0,1-7 0,7 7 0,-5-8 0,-3 0 0,1-5 0,-2 1 0,-2-7 0,-3-4 0,-3-1 0,1-1 0,-2-1 0,-1-4 0,2 1 0,-1 4 0,4 4 0,1 2 0,-1 1 0,2 3 0,-2-4 0,0-1 0,0-4 0,3-1 0,-6-2 0,3 1 0,-5-6 0,1 3 0,-2-2 0,1 1 0,-4 1 0,2-2 0,1 2 0,-2-3 0,5 3 0,-4-1 0,-2-2 0,4 0 0,-1 3 0,2 3 0,-1-6 0,2 7 0,-6-4 0,5 2 0,-2 1 0,1-3 0,-2-3 0,2 3 0,-4 0 0,3-5 0,-1 2 0,1-1 0,1-1 0,-2 5 0,5 3 0,-5-6 0,2 5 0,-1-4 0,2 2 0,-4 2 0,2 1 0,2-2 0,-4-1 0,4-3 0,-2 3 0,1-4 0,1-1 0,2-4 0,-2 0 0,4 0 0,-3 0 0,1-1 0,4-8 0,1-3 0,3-3 0,6-3 0,2 0 0,4-2 0,0 1 0,3-2 0,1-5 0,5-4 0,3-3 0,6-6 0,-3 0 0,-1-3 0,4 3 0,23-30 0,-20 24 0,24-29 0,-35 40 0,8-8 0,-6 6 0,-6 7 0,-6 7 0,-9 7 0,-3 1 0,-4 5 0,-2 5 0,-2-1 0,-5 2 0,2-1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4:57.442"/>
    </inkml:context>
    <inkml:brush xml:id="br0">
      <inkml:brushProperty name="width" value="0.1" units="cm"/>
      <inkml:brushProperty name="height" value="0.1" units="cm"/>
      <inkml:brushProperty name="color" value="#E3E3E3"/>
    </inkml:brush>
  </inkml:definitions>
  <inkml:trace contextRef="#ctx0" brushRef="#br0">1 0 24575,'75'0'0,"90"17"0,-40 2 0,10 5-913,48 14 1,10 7 912,-41-5 0,2 8 0,14 6-1386,27 12 0,15 14 0,5 2 1,-11 2 1385,15 8 0,-9 1 0,13 9 0,-38-18 0,12 6 0,7 3 0,-6 1 0,-12-1 0,-3 8 0,-11-2 0,-5 1 0,4 2 0,-2-3 0,1 6 0,-2 0 0,-3-1 0,-9 1 0,-6 1 0,0 4 0,1 4 0,10 18 0,-2 3 0,0 7 0,-4 1 0,2 7 0,-4 4 0,-1 2 0,-4 2 0,-2-4 0,-5 1 0,-3 1 0,0 9 0,3 10 0,0 8 0,-8 0 0,-10-3 0,11 26 0,-13-7 0,-5-2-324,-17-19 0,-5 1 1,-1-4 323,-1 8 0,-2 0 0,-11-9-431,-5 11 0,-11-11 431,0-5 0,-5-5 0,-7-13 0,-7-8 420,14 79-420,-10-23 0,-10-32 3902,-17-52-3902,-11-38 3235,-5-32-3235,-5-14 1438,1-14-1438,-1-9 206,4-28-206,-1-13 0,-3-65 0,0 55 0,0-28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4:57.443"/>
    </inkml:context>
    <inkml:brush xml:id="br0">
      <inkml:brushProperty name="width" value="0.1" units="cm"/>
      <inkml:brushProperty name="height" value="0.1" units="cm"/>
      <inkml:brushProperty name="color" value="#E3E3E3"/>
    </inkml:brush>
  </inkml:definitions>
  <inkml:trace contextRef="#ctx0" brushRef="#br0">0 713 24575,'65'35'0,"2"2"0,-17 4 0,-2-2 0,15 16 0,-26-20 0,10 9 0,-26-22 0,-3-4 0,-10-7 0,1-7 0,-2 2 0,-2-4 0,5 5 0,1 1 0,7 2 0,3 2 0,4 6 0,8 3 0,5 6 0,-11-4 0,4 2 0,-16-10 0,5-1 0,-8-2 0,-2-2 0,1-2 0,0-4 0,-4-1 0,4-10 0,-7-1 0,4-4 0,-2-12 0,6-7 0,12-16 0,18-20 0,19-28 0,14-24 0,15-25 0,-11 4 0,-7 7 0,-12 25 0,-17 16 0,-4 14 0,-10 19 0,-7 11 0,-7 15 0,-1 12 0,-8 12 0,-5 6 0,-1 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4:57.444"/>
    </inkml:context>
    <inkml:brush xml:id="br0">
      <inkml:brushProperty name="width" value="0.1" units="cm"/>
      <inkml:brushProperty name="height" value="0.1" units="cm"/>
      <inkml:brushProperty name="color" value="#E3E3E3"/>
    </inkml:brush>
  </inkml:definitions>
  <inkml:trace contextRef="#ctx0" brushRef="#br0">0 0 24575,'77'122'0,"1"1"0,7 21 0,11 18 0,-12-15 0,9 18 0,5 6 0,-5-5-2828,10 28 1,-1-5 0,5 11 2827,-5-11 0,7 12 0,-2-2 0,-8-7 0,-1 3 0,-5-8 0,-2-3-66,-7-13 1,-3-3-1,-1-3 66,-14-25 0,-3-5 0,0-2 342,33 67 1,-8-9-343,-25-50 0,-1-11-71,-10-8 1,-2-7 70,16 58 0,-30-68 3784,-5-8-3784,-13-26 2537,-9-17-2537,-1-3 1583,-4-14-1583,1-8 231,-4-7-231,2-5 0,-3-10 0,0-7 0,0-12 0,-3 3 0,3-9 0,-1 11 0,-2 2 0,3 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4:57.445"/>
    </inkml:context>
    <inkml:brush xml:id="br0">
      <inkml:brushProperty name="width" value="0.1" units="cm"/>
      <inkml:brushProperty name="height" value="0.1" units="cm"/>
      <inkml:brushProperty name="color" value="#E3E3E3"/>
    </inkml:brush>
  </inkml:definitions>
  <inkml:trace contextRef="#ctx0" brushRef="#br0">0 224 24575,'57'44'0,"9"8"0,45 46 0,-22-23 0,49 57 0,-49-46 0,-4 1 0,-20-18 0,-25-27 0,-11-6 0,-8-13 0,-8-11 0,-1-5 0,-6-1 0,2 2 0,-2-7 0,-2-11 0,-1-7 0,-3-16 0,2-52 0,10-1 0,6-49 0,21-4 0,-11 42 0,8-16 0,-12 53 0,-4 4 0,-7 16 0,-1 10 0,-6 9 0,-3 7 0,2 8 0,1 2 0,-2 2 0,4-2 0,-7-4 0,5 2 0,-1 2 0,-4-5 0,2 1 0,-3-1 0,0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5T19:16:25.248"/>
    </inkml:context>
    <inkml:brush xml:id="br0">
      <inkml:brushProperty name="width" value="0.56444" units="cm"/>
      <inkml:brushProperty name="height" value="1.12889" units="cm"/>
      <inkml:brushProperty name="color" value="#ED2A24"/>
      <inkml:brushProperty name="tip" value="rectangle"/>
      <inkml:brushProperty name="rasterOp" value="maskPen"/>
    </inkml:brush>
  </inkml:definitions>
  <inkml:trace contextRef="#ctx0" brushRef="#br0">1 167,'158'-4,"-10"1,22 1,-14 2,13 0,7 0,-25 0,5 0,8 0,11 0,-11 0,10 0,7 0,7 0,5 0,1 0,-26 0,1 0,2 0,5 0,2 0,8 0,11 0,8 0,-35 0,10 0,9 0,4 0,7 0,5 0,2 0,2 0,-1 0,1 0,-5 0,0 0,-9 0,-3 0,1 0,-1 0,-4 0,-2 0,-3 0,1 0,-1 0,2 0,1 0,-2 0,8 0,2 0,-8 0,6 0,6 0,-2 0,7 0,1 0,-3 0,-2 0,-1 0,-3 0,-4 0,-8 0,-5 0,-11 0,46 0,-12 0,-8 0,-5 0,-4 0,-7 0,2 0,-2 0,33 0,-6 0,-3 0,-3 0,-6 0,-5 0,2 0,-3 0,-6 0,-7 0,-5 0,6 0,-6 0,-6 0,-14 0,8 0,-12 0,-10 0,11 0,-10 0,-25 0,-13 0,29 0,-71 0,-31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87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5CD2E-A2C4-3439-809F-8A953B03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C53951-E9EE-0524-A290-7EB829B26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282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https://learn.microsoft.com/en-us/azure/governance/resource-graph/concepts/query-language#resource-graph-tables</a:t>
            </a:r>
          </a:p>
          <a:p>
            <a:r>
              <a:t>https://learn.microsoft.com/en-us/azure/azure-monitor/logs/azure-monitor-data-explorer-proxy#query-data-in-azure-resource-graph-by-using-arg-preview</a:t>
            </a:r>
          </a:p>
          <a:p>
            <a:r>
              <a:t>https://learn.microsoft.com/en-us/azure/azure-monitor/logs/azure-monitor-data-explorer-proxy#azure-resource-graph-cross-service-query-considerations</a:t>
            </a:r>
          </a:p>
          <a:p>
            <a:r>
              <a:t>https://learn.microsoft.com/en-us/azure/governance/resource-graph/concepts/query-language#resource-graph-custom-language-elements</a:t>
            </a:r>
          </a:p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https://learn.microsoft.com/en-gb/azure/governance/resource-graph/alerts-query-quickstart?tabs=azure-resource-graph</a:t>
            </a:r>
          </a:p>
          <a:p>
            <a:r>
              <a:t>https://learn.microsoft.com/en-us/azure/azure-monitor/logs/azure-monitor-data-explorer-proxy#query-data-in-azure-resource-graph-by-using-arg-preview</a:t>
            </a:r>
          </a:p>
          <a:p>
            <a:r>
              <a:t>https://learn.microsoft.com/en-us/azure/azure-monitor/logs/azure-monitor-data-explorer-proxy#azure-resource-graph-cross-service-query-considerations</a:t>
            </a:r>
          </a:p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https://learn.microsoft.com/en-us/azure/governance/resource-graph/concepts/azure-resource-graph-get-list-api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1E34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E9D60F-DCB5-DECA-D136-2146EEB88B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0875" y="1898650"/>
            <a:ext cx="16916400" cy="66468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F0F3F6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buFont typeface="Arial" panose="020B0604020202020204" pitchFamily="34" charset="0"/>
              <a:buChar char="•"/>
              <a:defRPr>
                <a:solidFill>
                  <a:srgbClr val="F0F3F6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rgbClr val="F0F3F6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rgbClr val="F0F3F6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rgbClr val="F0F3F6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770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4710-DEDC-489D-CAEC-0B77AD16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6087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1AA5-DE39-57BA-49FA-3539663F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62AFD8-231A-BE09-09CC-D2137A7EFA4E}"/>
              </a:ext>
            </a:extLst>
          </p:cNvPr>
          <p:cNvCxnSpPr>
            <a:cxnSpLocks/>
          </p:cNvCxnSpPr>
          <p:nvPr userDrawn="1"/>
        </p:nvCxnSpPr>
        <p:spPr>
          <a:xfrm>
            <a:off x="241160" y="2039815"/>
            <a:ext cx="9003324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C78B5C-78D4-9CC0-DAFC-3F3840FC928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1300" y="2220913"/>
            <a:ext cx="12520613" cy="6742112"/>
          </a:xfrm>
        </p:spPr>
        <p:txBody>
          <a:bodyPr/>
          <a:lstStyle>
            <a:lvl1pPr>
              <a:buNone/>
              <a:defRPr/>
            </a:lvl1pPr>
            <a:lvl2pPr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6360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1AA5-DE39-57BA-49FA-3539663F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62AFD8-231A-BE09-09CC-D2137A7EFA4E}"/>
              </a:ext>
            </a:extLst>
          </p:cNvPr>
          <p:cNvCxnSpPr>
            <a:cxnSpLocks/>
          </p:cNvCxnSpPr>
          <p:nvPr userDrawn="1"/>
        </p:nvCxnSpPr>
        <p:spPr>
          <a:xfrm>
            <a:off x="241160" y="2039815"/>
            <a:ext cx="9003324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C78B5C-78D4-9CC0-DAFC-3F3840FC928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1160" y="2262414"/>
            <a:ext cx="7978252" cy="67421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2929BA-644D-4654-1519-87897AAF063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023873" y="2263181"/>
            <a:ext cx="7947025" cy="674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019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1AA5-DE39-57BA-49FA-3539663F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62AFD8-231A-BE09-09CC-D2137A7EFA4E}"/>
              </a:ext>
            </a:extLst>
          </p:cNvPr>
          <p:cNvCxnSpPr>
            <a:cxnSpLocks/>
          </p:cNvCxnSpPr>
          <p:nvPr userDrawn="1"/>
        </p:nvCxnSpPr>
        <p:spPr>
          <a:xfrm>
            <a:off x="241160" y="2039815"/>
            <a:ext cx="9003324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C78B5C-78D4-9CC0-DAFC-3F3840FC928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1160" y="3054698"/>
            <a:ext cx="7978252" cy="59498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2929BA-644D-4654-1519-87897AAF063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023873" y="3054693"/>
            <a:ext cx="7947025" cy="59498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BC6EBB-F4B8-AB73-BDEF-AA28964EB9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1300" y="2251075"/>
            <a:ext cx="7978775" cy="652463"/>
          </a:xfrm>
        </p:spPr>
        <p:txBody>
          <a:bodyPr/>
          <a:lstStyle>
            <a:lvl1pPr>
              <a:buNone/>
              <a:defRPr sz="36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AC5CB73-C55F-79AA-23C3-6D26F7832F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23873" y="2251075"/>
            <a:ext cx="7978775" cy="652463"/>
          </a:xfrm>
        </p:spPr>
        <p:txBody>
          <a:bodyPr/>
          <a:lstStyle>
            <a:lvl1pPr>
              <a:buNone/>
              <a:defRPr sz="36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3103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EBEB1-87B8-5EFA-988B-2FDB3AAC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158" y="4467940"/>
            <a:ext cx="5686110" cy="1351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0690E6-B14B-FA2F-0504-1D7CF15EF5FD}"/>
              </a:ext>
            </a:extLst>
          </p:cNvPr>
          <p:cNvCxnSpPr>
            <a:cxnSpLocks/>
          </p:cNvCxnSpPr>
          <p:nvPr userDrawn="1"/>
        </p:nvCxnSpPr>
        <p:spPr>
          <a:xfrm>
            <a:off x="6692202" y="2411604"/>
            <a:ext cx="0" cy="5606981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1FF68E-2509-E1EF-F965-CC0CC8BF06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97788" y="2120900"/>
            <a:ext cx="9223375" cy="62896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491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7952-66F4-CED5-D513-C02C1A3A5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7ED6874-C7BC-AEC7-0446-4DCDD3A566D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76913" y="2121936"/>
            <a:ext cx="15585333" cy="6981871"/>
          </a:xfrm>
          <a:solidFill>
            <a:srgbClr val="000000"/>
          </a:solidFill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  <a:latin typeface="Consolas" panose="020B0609020204030204" pitchFamily="49" charset="0"/>
              </a:defRPr>
            </a:lvl1pPr>
            <a:lvl2pPr>
              <a:defRPr sz="2700">
                <a:solidFill>
                  <a:srgbClr val="010101"/>
                </a:solidFill>
              </a:defRPr>
            </a:lvl2pPr>
            <a:lvl3pPr>
              <a:defRPr sz="2400">
                <a:solidFill>
                  <a:srgbClr val="010101"/>
                </a:solidFill>
              </a:defRPr>
            </a:lvl3pPr>
            <a:lvl4pPr>
              <a:defRPr sz="2100">
                <a:solidFill>
                  <a:srgbClr val="010101"/>
                </a:solidFill>
              </a:defRPr>
            </a:lvl4pPr>
            <a:lvl5pPr>
              <a:defRPr sz="2100">
                <a:solidFill>
                  <a:srgbClr val="01010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D95AE1F-BD02-6370-FC44-1FFA116B3FF0}"/>
              </a:ext>
            </a:extLst>
          </p:cNvPr>
          <p:cNvCxnSpPr>
            <a:cxnSpLocks/>
          </p:cNvCxnSpPr>
          <p:nvPr userDrawn="1"/>
        </p:nvCxnSpPr>
        <p:spPr>
          <a:xfrm>
            <a:off x="241160" y="2039815"/>
            <a:ext cx="9003324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76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moScrim">
            <a:extLst>
              <a:ext uri="{FF2B5EF4-FFF2-40B4-BE49-F238E27FC236}">
                <a16:creationId xmlns:a16="http://schemas.microsoft.com/office/drawing/2014/main" id="{BD828D8F-89BF-0688-8457-186C0BEBAEA5}"/>
              </a:ext>
            </a:extLst>
          </p:cNvPr>
          <p:cNvSpPr/>
          <p:nvPr userDrawn="1"/>
        </p:nvSpPr>
        <p:spPr>
          <a:xfrm>
            <a:off x="0" y="1939332"/>
            <a:ext cx="18288000" cy="6199833"/>
          </a:xfrm>
          <a:prstGeom prst="rect">
            <a:avLst/>
          </a:prstGeom>
          <a:solidFill>
            <a:srgbClr val="0A1840">
              <a:alpha val="5200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D3574-C9FE-CA97-2D36-2B8893AF466D}"/>
              </a:ext>
            </a:extLst>
          </p:cNvPr>
          <p:cNvSpPr txBox="1"/>
          <p:nvPr userDrawn="1"/>
        </p:nvSpPr>
        <p:spPr>
          <a:xfrm>
            <a:off x="910878" y="3302828"/>
            <a:ext cx="426911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 dirty="0"/>
              <a:t>DEMO</a:t>
            </a:r>
            <a:endParaRPr lang="en-US" sz="2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09CD8-D8F5-8437-FD0F-E7864EDB9B37}"/>
              </a:ext>
            </a:extLst>
          </p:cNvPr>
          <p:cNvSpPr/>
          <p:nvPr userDrawn="1"/>
        </p:nvSpPr>
        <p:spPr>
          <a:xfrm>
            <a:off x="783370" y="2851452"/>
            <a:ext cx="9000000" cy="4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 spc="200" dirty="0">
                <a:solidFill>
                  <a:srgbClr val="60B1E3"/>
                </a:solidFill>
                <a:effectLst/>
                <a:latin typeface="Segoe UI" panose="020B0502040204020203" pitchFamily="34" charset="0"/>
              </a:rPr>
              <a:t>LIVE ON SCREEN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1852A9-B66F-941C-4144-5767EEF481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878" y="5182436"/>
            <a:ext cx="11677650" cy="207247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Demo content</a:t>
            </a:r>
          </a:p>
        </p:txBody>
      </p:sp>
    </p:spTree>
    <p:extLst>
      <p:ext uri="{BB962C8B-B14F-4D97-AF65-F5344CB8AC3E}">
        <p14:creationId xmlns:p14="http://schemas.microsoft.com/office/powerpoint/2010/main" val="422758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s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moScrim">
            <a:extLst>
              <a:ext uri="{FF2B5EF4-FFF2-40B4-BE49-F238E27FC236}">
                <a16:creationId xmlns:a16="http://schemas.microsoft.com/office/drawing/2014/main" id="{BD828D8F-89BF-0688-8457-186C0BEBAEA5}"/>
              </a:ext>
            </a:extLst>
          </p:cNvPr>
          <p:cNvSpPr/>
          <p:nvPr userDrawn="1"/>
        </p:nvSpPr>
        <p:spPr>
          <a:xfrm>
            <a:off x="0" y="1939332"/>
            <a:ext cx="18288000" cy="6199833"/>
          </a:xfrm>
          <a:prstGeom prst="rect">
            <a:avLst/>
          </a:prstGeom>
          <a:solidFill>
            <a:srgbClr val="0A1840">
              <a:alpha val="5200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258A6-6EEA-DF92-FD2A-EF00BD571A94}"/>
              </a:ext>
            </a:extLst>
          </p:cNvPr>
          <p:cNvSpPr txBox="1"/>
          <p:nvPr userDrawn="1"/>
        </p:nvSpPr>
        <p:spPr>
          <a:xfrm>
            <a:off x="844550" y="2728992"/>
            <a:ext cx="745268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Things to take home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CE5381D-3386-58E3-51C5-FCD7FDBE69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550" y="3836988"/>
            <a:ext cx="11133138" cy="4081462"/>
          </a:xfrm>
        </p:spPr>
        <p:txBody>
          <a:bodyPr/>
          <a:lstStyle>
            <a:lvl1pPr>
              <a:buFont typeface="+mj-lt"/>
              <a:buAutoNum type="arabicPeriod"/>
              <a:defRPr/>
            </a:lvl1pPr>
          </a:lstStyle>
          <a:p>
            <a:pPr lvl="0"/>
            <a:r>
              <a:rPr lang="en-US" dirty="0"/>
              <a:t>Takeaways</a:t>
            </a:r>
          </a:p>
        </p:txBody>
      </p:sp>
    </p:spTree>
    <p:extLst>
      <p:ext uri="{BB962C8B-B14F-4D97-AF65-F5344CB8AC3E}">
        <p14:creationId xmlns:p14="http://schemas.microsoft.com/office/powerpoint/2010/main" val="1653380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moScrim">
            <a:extLst>
              <a:ext uri="{FF2B5EF4-FFF2-40B4-BE49-F238E27FC236}">
                <a16:creationId xmlns:a16="http://schemas.microsoft.com/office/drawing/2014/main" id="{BD828D8F-89BF-0688-8457-186C0BEBAEA5}"/>
              </a:ext>
            </a:extLst>
          </p:cNvPr>
          <p:cNvSpPr/>
          <p:nvPr userDrawn="1"/>
        </p:nvSpPr>
        <p:spPr>
          <a:xfrm>
            <a:off x="0" y="1939332"/>
            <a:ext cx="18288000" cy="6199833"/>
          </a:xfrm>
          <a:prstGeom prst="rect">
            <a:avLst/>
          </a:prstGeom>
          <a:solidFill>
            <a:srgbClr val="0A1840">
              <a:alpha val="5200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258A6-6EEA-DF92-FD2A-EF00BD571A94}"/>
              </a:ext>
            </a:extLst>
          </p:cNvPr>
          <p:cNvSpPr txBox="1"/>
          <p:nvPr userDrawn="1"/>
        </p:nvSpPr>
        <p:spPr>
          <a:xfrm>
            <a:off x="844550" y="1939332"/>
            <a:ext cx="296587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Agenda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CE5381D-3386-58E3-51C5-FCD7FDBE69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550" y="3047328"/>
            <a:ext cx="11133138" cy="4871122"/>
          </a:xfrm>
        </p:spPr>
        <p:txBody>
          <a:bodyPr/>
          <a:lstStyle>
            <a:lvl1pPr>
              <a:buFont typeface="+mj-lt"/>
              <a:buAutoNum type="arabicPeriod"/>
              <a:defRPr/>
            </a:lvl1pPr>
          </a:lstStyle>
          <a:p>
            <a:pPr lvl="0"/>
            <a:r>
              <a:rPr lang="en-US" dirty="0"/>
              <a:t>Todays agenda</a:t>
            </a:r>
          </a:p>
        </p:txBody>
      </p:sp>
    </p:spTree>
    <p:extLst>
      <p:ext uri="{BB962C8B-B14F-4D97-AF65-F5344CB8AC3E}">
        <p14:creationId xmlns:p14="http://schemas.microsoft.com/office/powerpoint/2010/main" val="2114041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moScrim">
            <a:extLst>
              <a:ext uri="{FF2B5EF4-FFF2-40B4-BE49-F238E27FC236}">
                <a16:creationId xmlns:a16="http://schemas.microsoft.com/office/drawing/2014/main" id="{BD828D8F-89BF-0688-8457-186C0BEBAEA5}"/>
              </a:ext>
            </a:extLst>
          </p:cNvPr>
          <p:cNvSpPr/>
          <p:nvPr userDrawn="1"/>
        </p:nvSpPr>
        <p:spPr>
          <a:xfrm>
            <a:off x="0" y="1939332"/>
            <a:ext cx="18288000" cy="6199833"/>
          </a:xfrm>
          <a:prstGeom prst="rect">
            <a:avLst/>
          </a:prstGeom>
          <a:solidFill>
            <a:srgbClr val="0A1840">
              <a:alpha val="5200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D3574-C9FE-CA97-2D36-2B8893AF466D}"/>
              </a:ext>
            </a:extLst>
          </p:cNvPr>
          <p:cNvSpPr txBox="1"/>
          <p:nvPr userDrawn="1"/>
        </p:nvSpPr>
        <p:spPr>
          <a:xfrm>
            <a:off x="910878" y="3302828"/>
            <a:ext cx="426911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 dirty="0"/>
              <a:t>DEMO</a:t>
            </a:r>
            <a:endParaRPr lang="en-US" sz="2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09CD8-D8F5-8437-FD0F-E7864EDB9B37}"/>
              </a:ext>
            </a:extLst>
          </p:cNvPr>
          <p:cNvSpPr/>
          <p:nvPr userDrawn="1"/>
        </p:nvSpPr>
        <p:spPr>
          <a:xfrm>
            <a:off x="783370" y="2851452"/>
            <a:ext cx="9000000" cy="4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 spc="200" dirty="0">
                <a:solidFill>
                  <a:srgbClr val="60B1E3"/>
                </a:solidFill>
                <a:effectLst/>
                <a:latin typeface="Segoe UI" panose="020B0502040204020203" pitchFamily="34" charset="0"/>
              </a:rPr>
              <a:t>LIVE ON SCREEN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1852A9-B66F-941C-4144-5767EEF481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878" y="5182436"/>
            <a:ext cx="11677650" cy="207247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Demo content</a:t>
            </a:r>
          </a:p>
        </p:txBody>
      </p:sp>
    </p:spTree>
    <p:extLst>
      <p:ext uri="{BB962C8B-B14F-4D97-AF65-F5344CB8AC3E}">
        <p14:creationId xmlns:p14="http://schemas.microsoft.com/office/powerpoint/2010/main" val="3484119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keaway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moScrim">
            <a:extLst>
              <a:ext uri="{FF2B5EF4-FFF2-40B4-BE49-F238E27FC236}">
                <a16:creationId xmlns:a16="http://schemas.microsoft.com/office/drawing/2014/main" id="{BD828D8F-89BF-0688-8457-186C0BEBAEA5}"/>
              </a:ext>
            </a:extLst>
          </p:cNvPr>
          <p:cNvSpPr/>
          <p:nvPr userDrawn="1"/>
        </p:nvSpPr>
        <p:spPr>
          <a:xfrm>
            <a:off x="0" y="1939332"/>
            <a:ext cx="18288000" cy="6199833"/>
          </a:xfrm>
          <a:prstGeom prst="rect">
            <a:avLst/>
          </a:prstGeom>
          <a:solidFill>
            <a:srgbClr val="0A1840">
              <a:alpha val="5200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258A6-6EEA-DF92-FD2A-EF00BD571A94}"/>
              </a:ext>
            </a:extLst>
          </p:cNvPr>
          <p:cNvSpPr txBox="1"/>
          <p:nvPr userDrawn="1"/>
        </p:nvSpPr>
        <p:spPr>
          <a:xfrm>
            <a:off x="844550" y="2728992"/>
            <a:ext cx="745268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Things to take home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CE5381D-3386-58E3-51C5-FCD7FDBE69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550" y="3836988"/>
            <a:ext cx="11133138" cy="4081462"/>
          </a:xfrm>
        </p:spPr>
        <p:txBody>
          <a:bodyPr/>
          <a:lstStyle>
            <a:lvl1pPr>
              <a:buFont typeface="+mj-lt"/>
              <a:buAutoNum type="arabicPeriod"/>
              <a:defRPr/>
            </a:lvl1pPr>
          </a:lstStyle>
          <a:p>
            <a:pPr lvl="0"/>
            <a:r>
              <a:rPr lang="en-US" dirty="0"/>
              <a:t>Takeaways</a:t>
            </a:r>
          </a:p>
        </p:txBody>
      </p:sp>
    </p:spTree>
    <p:extLst>
      <p:ext uri="{BB962C8B-B14F-4D97-AF65-F5344CB8AC3E}">
        <p14:creationId xmlns:p14="http://schemas.microsoft.com/office/powerpoint/2010/main" val="3983917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moScrim">
            <a:extLst>
              <a:ext uri="{FF2B5EF4-FFF2-40B4-BE49-F238E27FC236}">
                <a16:creationId xmlns:a16="http://schemas.microsoft.com/office/drawing/2014/main" id="{BD828D8F-89BF-0688-8457-186C0BEBAEA5}"/>
              </a:ext>
            </a:extLst>
          </p:cNvPr>
          <p:cNvSpPr/>
          <p:nvPr userDrawn="1"/>
        </p:nvSpPr>
        <p:spPr>
          <a:xfrm>
            <a:off x="0" y="1939332"/>
            <a:ext cx="18288000" cy="6199833"/>
          </a:xfrm>
          <a:prstGeom prst="rect">
            <a:avLst/>
          </a:prstGeom>
          <a:solidFill>
            <a:srgbClr val="0A1840">
              <a:alpha val="5200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258A6-6EEA-DF92-FD2A-EF00BD571A94}"/>
              </a:ext>
            </a:extLst>
          </p:cNvPr>
          <p:cNvSpPr txBox="1"/>
          <p:nvPr userDrawn="1"/>
        </p:nvSpPr>
        <p:spPr>
          <a:xfrm>
            <a:off x="844550" y="1939332"/>
            <a:ext cx="296587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Agenda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CE5381D-3386-58E3-51C5-FCD7FDBE69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550" y="3047328"/>
            <a:ext cx="11133138" cy="4871122"/>
          </a:xfrm>
        </p:spPr>
        <p:txBody>
          <a:bodyPr/>
          <a:lstStyle>
            <a:lvl1pPr>
              <a:buFont typeface="+mj-lt"/>
              <a:buAutoNum type="arabicPeriod"/>
              <a:defRPr/>
            </a:lvl1pPr>
          </a:lstStyle>
          <a:p>
            <a:pPr lvl="0"/>
            <a:r>
              <a:rPr lang="en-US" dirty="0"/>
              <a:t>Todays agenda</a:t>
            </a:r>
          </a:p>
        </p:txBody>
      </p:sp>
    </p:spTree>
    <p:extLst>
      <p:ext uri="{BB962C8B-B14F-4D97-AF65-F5344CB8AC3E}">
        <p14:creationId xmlns:p14="http://schemas.microsoft.com/office/powerpoint/2010/main" val="1504332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ssion title 1 speaker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76592974-4C2A-3301-D393-4F7B23821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07501" y="7208093"/>
            <a:ext cx="4970043" cy="447675"/>
          </a:xfrm>
          <a:prstGeom prst="roundRect">
            <a:avLst>
              <a:gd name="adj" fmla="val 50000"/>
            </a:avLst>
          </a:prstGeom>
          <a:solidFill>
            <a:srgbClr val="40B0E0"/>
          </a:solidFill>
          <a:ln/>
        </p:spPr>
        <p:txBody>
          <a:bodyPr/>
          <a:lstStyle/>
          <a:p>
            <a:endParaRPr lang="en-US" noProof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2B372B6-8D8D-63FC-5DCE-DC8721A64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63750" y="7197468"/>
            <a:ext cx="5078648" cy="447675"/>
          </a:xfrm>
          <a:prstGeom prst="roundRect">
            <a:avLst>
              <a:gd name="adj" fmla="val 50000"/>
            </a:avLst>
          </a:prstGeom>
          <a:solidFill>
            <a:srgbClr val="40B0E0"/>
          </a:solidFill>
          <a:ln/>
        </p:spPr>
        <p:txBody>
          <a:bodyPr/>
          <a:lstStyle/>
          <a:p>
            <a:endParaRPr lang="en-US" noProof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EF03D1D-8775-7B76-1E4D-69FE12E18F7D}"/>
              </a:ext>
            </a:extLst>
          </p:cNvPr>
          <p:cNvSpPr/>
          <p:nvPr userDrawn="1"/>
        </p:nvSpPr>
        <p:spPr>
          <a:xfrm>
            <a:off x="5712156" y="1193956"/>
            <a:ext cx="256017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30" dirty="0">
                <a:solidFill>
                  <a:srgbClr val="FFFFFF">
                    <a:alpha val="85000"/>
                  </a:srgbClr>
                </a:solidFill>
                <a:latin typeface="Segoe UI Light" panose="020B0502040204020203" pitchFamily="34" charset="0"/>
                <a:ea typeface="Montserrat" pitchFamily="34" charset="-122"/>
                <a:cs typeface="Segoe UI Light" panose="020B0502040204020203" pitchFamily="34" charset="0"/>
              </a:rPr>
              <a:t>Tuesday</a:t>
            </a:r>
            <a:r>
              <a:rPr lang="en-US" sz="2000" b="1" kern="0" spc="30" noProof="0" dirty="0">
                <a:solidFill>
                  <a:srgbClr val="FFFFFF">
                    <a:alpha val="85000"/>
                  </a:srgbClr>
                </a:solidFill>
                <a:latin typeface="Segoe UI Light" panose="020B0502040204020203" pitchFamily="34" charset="0"/>
                <a:ea typeface="Montserrat" pitchFamily="34" charset="-122"/>
                <a:cs typeface="Segoe UI Light" panose="020B0502040204020203" pitchFamily="34" charset="0"/>
              </a:rPr>
              <a:t> · 13 October</a:t>
            </a:r>
            <a:endParaRPr lang="en-US" sz="2000" noProof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934191-3592-7457-7F24-D3F165D0A8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8410" y="1096801"/>
            <a:ext cx="999640" cy="54483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none" lIns="0" tIns="0" rIns="91440" bIns="0" rtlCol="0">
            <a:spAutoFit/>
          </a:bodyPr>
          <a:lstStyle>
            <a:lvl1pPr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rPr lang="en-US" dirty="0"/>
              <a:t>Track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630286F-C16B-C799-7559-8398481DF3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88411" y="1908157"/>
            <a:ext cx="1918543" cy="914400"/>
          </a:xfrm>
          <a:ln>
            <a:noFill/>
          </a:ln>
        </p:spPr>
        <p:txBody>
          <a:bodyPr/>
          <a:lstStyle>
            <a:lvl1pPr>
              <a:buNone/>
              <a:defRPr sz="54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sz="5400" dirty="0"/>
              <a:t>09:15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08DA8AC-EA60-E495-59A6-615A9C4099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8600" y="1842815"/>
            <a:ext cx="2010236" cy="1021556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>
            <a:lvl1pPr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Room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5D11D8A-95E2-77CD-9103-ED3F93D3F5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8410" y="2944795"/>
            <a:ext cx="10890675" cy="2717800"/>
          </a:xfrm>
        </p:spPr>
        <p:txBody>
          <a:bodyPr>
            <a:normAutofit/>
          </a:bodyPr>
          <a:lstStyle>
            <a:lvl1pPr marL="0" indent="0" rtl="0">
              <a:spcBef>
                <a:spcPts val="0"/>
              </a:spcBef>
              <a:buNone/>
              <a:defRPr lang="en-US" sz="5400" dirty="0"/>
            </a:lvl1pPr>
          </a:lstStyle>
          <a:p>
            <a:pPr lvl="0"/>
            <a:r>
              <a:rPr lang="en-US" b="1" dirty="0"/>
              <a:t>Session title</a:t>
            </a:r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173EBDF-56E4-5118-4D51-1030DAAE87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8942" y="5662595"/>
            <a:ext cx="9799638" cy="135842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Details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9D60BCA-D7E4-53D6-20FA-ED7D294C10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66654" y="7132381"/>
            <a:ext cx="4692090" cy="577850"/>
          </a:xfrm>
        </p:spPr>
        <p:txBody>
          <a:bodyPr>
            <a:noAutofit/>
          </a:bodyPr>
          <a:lstStyle>
            <a:lvl1pPr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Speaker 1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298D67BA-2C21-5A55-EDF0-3540FB645B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2550" y="7132381"/>
            <a:ext cx="4783210" cy="577850"/>
          </a:xfrm>
        </p:spPr>
        <p:txBody>
          <a:bodyPr>
            <a:noAutofit/>
          </a:bodyPr>
          <a:lstStyle>
            <a:lvl1pPr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Speaker 2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DF08E65-401D-A125-DC0D-6FE06FF745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66654" y="7722443"/>
            <a:ext cx="4691063" cy="23668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E6E27038-440D-8810-B766-18DAE52C2B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1523" y="7756502"/>
            <a:ext cx="4806525" cy="23668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Platshållare för bild 11">
            <a:extLst>
              <a:ext uri="{FF2B5EF4-FFF2-40B4-BE49-F238E27FC236}">
                <a16:creationId xmlns:a16="http://schemas.microsoft.com/office/drawing/2014/main" id="{6422B0C4-9543-EC5D-2397-47A8B9D6B28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512386" y="4299576"/>
            <a:ext cx="4154328" cy="4092197"/>
          </a:xfrm>
          <a:prstGeom prst="ellipse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34" name="Platshållare för bild 11">
            <a:extLst>
              <a:ext uri="{FF2B5EF4-FFF2-40B4-BE49-F238E27FC236}">
                <a16:creationId xmlns:a16="http://schemas.microsoft.com/office/drawing/2014/main" id="{7C13DD0E-2F78-A555-2650-3B2F0B89D11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4133672" y="1051303"/>
            <a:ext cx="4154328" cy="4092197"/>
          </a:xfrm>
          <a:prstGeom prst="ellipse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75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ssion title 1 speaker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76592974-4C2A-3301-D393-4F7B23821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07501" y="7208093"/>
            <a:ext cx="4970043" cy="447675"/>
          </a:xfrm>
          <a:prstGeom prst="roundRect">
            <a:avLst>
              <a:gd name="adj" fmla="val 50000"/>
            </a:avLst>
          </a:prstGeom>
          <a:solidFill>
            <a:srgbClr val="40B0E0"/>
          </a:solidFill>
          <a:ln/>
        </p:spPr>
        <p:txBody>
          <a:bodyPr/>
          <a:lstStyle/>
          <a:p>
            <a:endParaRPr lang="en-US" noProof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EF03D1D-8775-7B76-1E4D-69FE12E18F7D}"/>
              </a:ext>
            </a:extLst>
          </p:cNvPr>
          <p:cNvSpPr/>
          <p:nvPr userDrawn="1"/>
        </p:nvSpPr>
        <p:spPr>
          <a:xfrm>
            <a:off x="5721120" y="1269093"/>
            <a:ext cx="256017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endParaRPr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934191-3592-7457-7F24-D3F165D0A8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8410" y="1167636"/>
            <a:ext cx="1106552" cy="646986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rtlCol="0">
            <a:spAutoFit/>
          </a:bodyPr>
          <a:lstStyle>
            <a:lvl1pPr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rPr lang="en-US" dirty="0"/>
              <a:t>Track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630286F-C16B-C799-7559-8398481DF3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88411" y="1908157"/>
            <a:ext cx="1918543" cy="914400"/>
          </a:xfrm>
          <a:ln>
            <a:noFill/>
          </a:ln>
        </p:spPr>
        <p:txBody>
          <a:bodyPr/>
          <a:lstStyle>
            <a:lvl1pPr>
              <a:buNone/>
              <a:defRPr sz="54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sz="5400" dirty="0"/>
              <a:t>09:15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08DA8AC-EA60-E495-59A6-615A9C4099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8600" y="1842815"/>
            <a:ext cx="2010236" cy="1021556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>
            <a:lvl1pPr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Room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5D11D8A-95E2-77CD-9103-ED3F93D3F5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8410" y="2944795"/>
            <a:ext cx="10890675" cy="2717800"/>
          </a:xfrm>
        </p:spPr>
        <p:txBody>
          <a:bodyPr>
            <a:normAutofit/>
          </a:bodyPr>
          <a:lstStyle>
            <a:lvl1pPr marL="0" indent="0" rtl="0">
              <a:spcBef>
                <a:spcPts val="0"/>
              </a:spcBef>
              <a:buNone/>
              <a:defRPr lang="en-US" sz="5400" dirty="0"/>
            </a:lvl1pPr>
          </a:lstStyle>
          <a:p>
            <a:pPr lvl="0"/>
            <a:r>
              <a:rPr lang="en-US" b="1" dirty="0"/>
              <a:t>Session title</a:t>
            </a:r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173EBDF-56E4-5118-4D51-1030DAAE87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8942" y="5662595"/>
            <a:ext cx="9799638" cy="135842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Details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9D60BCA-D7E4-53D6-20FA-ED7D294C10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66654" y="7132381"/>
            <a:ext cx="4692090" cy="577850"/>
          </a:xfrm>
        </p:spPr>
        <p:txBody>
          <a:bodyPr>
            <a:noAutofit/>
          </a:bodyPr>
          <a:lstStyle>
            <a:lvl1pPr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Speaker 1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DF08E65-401D-A125-DC0D-6FE06FF745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66654" y="7722443"/>
            <a:ext cx="4691063" cy="23668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Platshållare för bild 11">
            <a:extLst>
              <a:ext uri="{FF2B5EF4-FFF2-40B4-BE49-F238E27FC236}">
                <a16:creationId xmlns:a16="http://schemas.microsoft.com/office/drawing/2014/main" id="{7C13DD0E-2F78-A555-2650-3B2F0B89D11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4133672" y="1051303"/>
            <a:ext cx="4154328" cy="4092197"/>
          </a:xfrm>
          <a:prstGeom prst="ellipse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90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presentation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E09B9878-044F-D52C-99F9-F4D69E008693}"/>
              </a:ext>
            </a:extLst>
          </p:cNvPr>
          <p:cNvSpPr/>
          <p:nvPr userDrawn="1"/>
        </p:nvSpPr>
        <p:spPr>
          <a:xfrm>
            <a:off x="1274904" y="1342710"/>
            <a:ext cx="811946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378" noProof="0" dirty="0">
                <a:solidFill>
                  <a:srgbClr val="40B0E0"/>
                </a:solidFill>
                <a:latin typeface="Segoe UI Light" panose="020B0502040204020203" pitchFamily="34" charset="0"/>
                <a:ea typeface="Montserrat" pitchFamily="34" charset="-122"/>
                <a:cs typeface="Segoe UI Light" panose="020B0502040204020203" pitchFamily="34" charset="0"/>
              </a:rPr>
              <a:t>WELCOME TO THE STAGE</a:t>
            </a:r>
            <a:endParaRPr lang="en-US" sz="2100" b="1" noProof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1B5CC88A-6FEE-32C9-8E79-9B185772C60F}"/>
              </a:ext>
            </a:extLst>
          </p:cNvPr>
          <p:cNvSpPr/>
          <p:nvPr userDrawn="1"/>
        </p:nvSpPr>
        <p:spPr>
          <a:xfrm>
            <a:off x="1275739" y="7462680"/>
            <a:ext cx="1409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650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4B50E4-3054-0683-A9F4-0293358619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4904" y="1861824"/>
            <a:ext cx="10210363" cy="9316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5400" b="1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6E2466C-0F4C-4050-6BA0-84CC6D349A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4902" y="3249821"/>
            <a:ext cx="10210363" cy="320534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93E06D6-9339-0B97-BBAE-5D15B74980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4902" y="6871617"/>
            <a:ext cx="5686939" cy="444500"/>
          </a:xfrm>
        </p:spPr>
        <p:txBody>
          <a:bodyPr>
            <a:noAutofit/>
          </a:bodyPr>
          <a:lstStyle>
            <a:lvl1pPr>
              <a:buFontTx/>
              <a:buBlip>
                <a:blip r:embed="rId3"/>
              </a:buBlip>
              <a:defRPr sz="1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List social media, email and websites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C18C7292-791C-FFB2-07C9-DA2DB6D289B2}"/>
              </a:ext>
            </a:extLst>
          </p:cNvPr>
          <p:cNvSpPr/>
          <p:nvPr userDrawn="1"/>
        </p:nvSpPr>
        <p:spPr>
          <a:xfrm>
            <a:off x="1235946" y="6509667"/>
            <a:ext cx="26025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378" noProof="0" dirty="0">
                <a:solidFill>
                  <a:srgbClr val="40B0E0"/>
                </a:solidFill>
                <a:latin typeface="Segoe UI Light" panose="020B0502040204020203" pitchFamily="34" charset="0"/>
                <a:ea typeface="Montserrat" pitchFamily="34" charset="-122"/>
                <a:cs typeface="Segoe UI Light" panose="020B0502040204020203" pitchFamily="34" charset="0"/>
              </a:rPr>
              <a:t>Stay in touch</a:t>
            </a:r>
            <a:endParaRPr lang="en-US" sz="2100" b="1" noProof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3469E6-A6CC-F6E9-D80E-240535F65C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4902" y="2840782"/>
            <a:ext cx="10210363" cy="361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latshållare för bild 11">
            <a:extLst>
              <a:ext uri="{FF2B5EF4-FFF2-40B4-BE49-F238E27FC236}">
                <a16:creationId xmlns:a16="http://schemas.microsoft.com/office/drawing/2014/main" id="{264285CA-96CC-B267-9BA1-160E5696F9F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4133672" y="1051303"/>
            <a:ext cx="4154328" cy="4092197"/>
          </a:xfrm>
          <a:prstGeom prst="ellipse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08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567D7B-70EF-AC67-578B-F6E66705CEDF}"/>
              </a:ext>
            </a:extLst>
          </p:cNvPr>
          <p:cNvSpPr/>
          <p:nvPr userDrawn="1"/>
        </p:nvSpPr>
        <p:spPr>
          <a:xfrm>
            <a:off x="491473" y="1603903"/>
            <a:ext cx="17120034" cy="47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8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THANKS TO OUR SPONSORS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DA0DB5-9B9A-21A1-35E3-0AC900EB70C2}"/>
              </a:ext>
            </a:extLst>
          </p:cNvPr>
          <p:cNvSpPr/>
          <p:nvPr userDrawn="1"/>
        </p:nvSpPr>
        <p:spPr>
          <a:xfrm>
            <a:off x="992979" y="2975398"/>
            <a:ext cx="16940740" cy="1867281"/>
          </a:xfrm>
          <a:prstGeom prst="rect">
            <a:avLst/>
          </a:prstGeom>
          <a:solidFill>
            <a:schemeClr val="accent3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C6AE3C-8154-0321-954B-ADBB26DC55CC}"/>
              </a:ext>
            </a:extLst>
          </p:cNvPr>
          <p:cNvSpPr/>
          <p:nvPr userDrawn="1"/>
        </p:nvSpPr>
        <p:spPr>
          <a:xfrm>
            <a:off x="2587931" y="5757136"/>
            <a:ext cx="13300000" cy="950000"/>
          </a:xfrm>
          <a:prstGeom prst="rect">
            <a:avLst/>
          </a:prstGeom>
          <a:solidFill>
            <a:schemeClr val="accent3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BC9B29-6174-4637-8816-D17878BB1132}"/>
              </a:ext>
            </a:extLst>
          </p:cNvPr>
          <p:cNvSpPr/>
          <p:nvPr userDrawn="1"/>
        </p:nvSpPr>
        <p:spPr>
          <a:xfrm>
            <a:off x="6814339" y="7506915"/>
            <a:ext cx="4659322" cy="603026"/>
          </a:xfrm>
          <a:prstGeom prst="rect">
            <a:avLst/>
          </a:prstGeom>
          <a:solidFill>
            <a:schemeClr val="accent3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021758-7FA1-15E1-FC4C-6CB407272DC4}"/>
              </a:ext>
            </a:extLst>
          </p:cNvPr>
          <p:cNvSpPr/>
          <p:nvPr userDrawn="1"/>
        </p:nvSpPr>
        <p:spPr>
          <a:xfrm>
            <a:off x="6144000" y="2590088"/>
            <a:ext cx="6000000" cy="4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2800" b="1" spc="200" dirty="0">
                <a:solidFill>
                  <a:srgbClr val="60B1E3"/>
                </a:solidFill>
                <a:effectLst/>
                <a:latin typeface="Segoe UI" panose="020B0502040204020203" pitchFamily="34" charset="0"/>
              </a:rPr>
              <a:t>PLATINUM</a:t>
            </a:r>
          </a:p>
          <a:p>
            <a:pPr algn="ctr">
              <a:buNone/>
            </a:pPr>
            <a:r>
              <a:rPr lang="en-US" sz="500" dirty="0">
                <a:effectLst/>
              </a:rPr>
              <a:t> </a:t>
            </a:r>
            <a:endParaRPr lang="en-US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AC3B4-48D7-1CF6-4BF8-D0759AE5BF7C}"/>
              </a:ext>
            </a:extLst>
          </p:cNvPr>
          <p:cNvSpPr/>
          <p:nvPr userDrawn="1"/>
        </p:nvSpPr>
        <p:spPr>
          <a:xfrm>
            <a:off x="6144000" y="5327682"/>
            <a:ext cx="6000000" cy="4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2800" b="1" spc="200" dirty="0">
                <a:solidFill>
                  <a:srgbClr val="60B1E3"/>
                </a:solidFill>
                <a:effectLst/>
                <a:latin typeface="Segoe UI" panose="020B0502040204020203" pitchFamily="34" charset="0"/>
              </a:rPr>
              <a:t>GOLD</a:t>
            </a:r>
          </a:p>
          <a:p>
            <a:pPr algn="ctr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CE6848-99DF-EED8-5F0E-C29CBA9425A0}"/>
              </a:ext>
            </a:extLst>
          </p:cNvPr>
          <p:cNvSpPr/>
          <p:nvPr userDrawn="1"/>
        </p:nvSpPr>
        <p:spPr>
          <a:xfrm>
            <a:off x="6237931" y="7083323"/>
            <a:ext cx="6000000" cy="4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2800" b="1" spc="200" dirty="0">
                <a:solidFill>
                  <a:srgbClr val="60B1E3"/>
                </a:solidFill>
                <a:effectLst/>
                <a:latin typeface="Segoe UI" panose="020B0502040204020203" pitchFamily="34" charset="0"/>
              </a:rPr>
              <a:t>SILVER</a:t>
            </a:r>
            <a:endParaRPr lang="en-US" sz="2800" dirty="0"/>
          </a:p>
        </p:txBody>
      </p:sp>
      <p:pic>
        <p:nvPicPr>
          <p:cNvPr id="10" name="Picture 9" descr="Sponsor logo">
            <a:extLst>
              <a:ext uri="{FF2B5EF4-FFF2-40B4-BE49-F238E27FC236}">
                <a16:creationId xmlns:a16="http://schemas.microsoft.com/office/drawing/2014/main" id="{C3AF70F4-2575-AD65-BFC3-347F6F55BA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13351" y="3347003"/>
            <a:ext cx="3555847" cy="1239970"/>
          </a:xfrm>
          <a:prstGeom prst="rect">
            <a:avLst/>
          </a:prstGeom>
        </p:spPr>
      </p:pic>
      <p:pic>
        <p:nvPicPr>
          <p:cNvPr id="12" name="Picture 11" descr="Sponsor logo">
            <a:extLst>
              <a:ext uri="{FF2B5EF4-FFF2-40B4-BE49-F238E27FC236}">
                <a16:creationId xmlns:a16="http://schemas.microsoft.com/office/drawing/2014/main" id="{05C29EA6-C16D-E198-E93B-FD9E8365E4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81927" y="3347004"/>
            <a:ext cx="4180806" cy="1155670"/>
          </a:xfrm>
          <a:prstGeom prst="rect">
            <a:avLst/>
          </a:prstGeom>
        </p:spPr>
      </p:pic>
      <p:pic>
        <p:nvPicPr>
          <p:cNvPr id="13" name="Picture 12" descr="Sponsor logo">
            <a:extLst>
              <a:ext uri="{FF2B5EF4-FFF2-40B4-BE49-F238E27FC236}">
                <a16:creationId xmlns:a16="http://schemas.microsoft.com/office/drawing/2014/main" id="{38444995-BE27-D5C3-823A-012F26E7E4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30576" y="5903774"/>
            <a:ext cx="2919470" cy="515469"/>
          </a:xfrm>
          <a:prstGeom prst="rect">
            <a:avLst/>
          </a:prstGeom>
        </p:spPr>
      </p:pic>
      <p:pic>
        <p:nvPicPr>
          <p:cNvPr id="14" name="Picture 13" descr="Sponsor logo">
            <a:extLst>
              <a:ext uri="{FF2B5EF4-FFF2-40B4-BE49-F238E27FC236}">
                <a16:creationId xmlns:a16="http://schemas.microsoft.com/office/drawing/2014/main" id="{7C6816DA-05B3-0AD6-E006-74285840562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81212" y="5968380"/>
            <a:ext cx="1795262" cy="625527"/>
          </a:xfrm>
          <a:prstGeom prst="rect">
            <a:avLst/>
          </a:prstGeom>
        </p:spPr>
      </p:pic>
      <p:pic>
        <p:nvPicPr>
          <p:cNvPr id="15" name="Picture 14" descr="Sponsor logo">
            <a:extLst>
              <a:ext uri="{FF2B5EF4-FFF2-40B4-BE49-F238E27FC236}">
                <a16:creationId xmlns:a16="http://schemas.microsoft.com/office/drawing/2014/main" id="{688C512E-369C-A801-9552-7B96523FC86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991275" y="5894310"/>
            <a:ext cx="2120430" cy="625527"/>
          </a:xfrm>
          <a:prstGeom prst="rect">
            <a:avLst/>
          </a:prstGeom>
        </p:spPr>
      </p:pic>
      <p:pic>
        <p:nvPicPr>
          <p:cNvPr id="16" name="Picture 15" descr="Sponsor logo">
            <a:extLst>
              <a:ext uri="{FF2B5EF4-FFF2-40B4-BE49-F238E27FC236}">
                <a16:creationId xmlns:a16="http://schemas.microsoft.com/office/drawing/2014/main" id="{F1C5261B-98E1-D0CA-A6D4-54ABA265700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226506" y="5966686"/>
            <a:ext cx="2315350" cy="594613"/>
          </a:xfrm>
          <a:prstGeom prst="rect">
            <a:avLst/>
          </a:prstGeom>
        </p:spPr>
      </p:pic>
      <p:pic>
        <p:nvPicPr>
          <p:cNvPr id="17" name="Picture 16" descr="Sponsor logo">
            <a:extLst>
              <a:ext uri="{FF2B5EF4-FFF2-40B4-BE49-F238E27FC236}">
                <a16:creationId xmlns:a16="http://schemas.microsoft.com/office/drawing/2014/main" id="{BADD4F7F-C7BB-3237-D634-3574C659D8A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2884489" y="5903774"/>
            <a:ext cx="2443616" cy="594613"/>
          </a:xfrm>
          <a:prstGeom prst="rect">
            <a:avLst/>
          </a:prstGeom>
        </p:spPr>
      </p:pic>
      <p:pic>
        <p:nvPicPr>
          <p:cNvPr id="18" name="Picture 17" descr="Sponsor logo">
            <a:extLst>
              <a:ext uri="{FF2B5EF4-FFF2-40B4-BE49-F238E27FC236}">
                <a16:creationId xmlns:a16="http://schemas.microsoft.com/office/drawing/2014/main" id="{8E0A4003-B6F6-C319-B48E-CBCF1FBAF72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264635" y="7653164"/>
            <a:ext cx="1977018" cy="292598"/>
          </a:xfrm>
          <a:prstGeom prst="rect">
            <a:avLst/>
          </a:prstGeom>
        </p:spPr>
      </p:pic>
      <p:pic>
        <p:nvPicPr>
          <p:cNvPr id="19" name="Picture 18" descr="Sponsor logo">
            <a:extLst>
              <a:ext uri="{FF2B5EF4-FFF2-40B4-BE49-F238E27FC236}">
                <a16:creationId xmlns:a16="http://schemas.microsoft.com/office/drawing/2014/main" id="{3D669974-C4AD-E14A-62D8-06D96C9A9F4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486725" y="7497950"/>
            <a:ext cx="1479562" cy="624375"/>
          </a:xfrm>
          <a:prstGeom prst="rect">
            <a:avLst/>
          </a:prstGeom>
        </p:spPr>
      </p:pic>
      <p:pic>
        <p:nvPicPr>
          <p:cNvPr id="20" name="Picture 19" descr="Sponsor logo">
            <a:extLst>
              <a:ext uri="{FF2B5EF4-FFF2-40B4-BE49-F238E27FC236}">
                <a16:creationId xmlns:a16="http://schemas.microsoft.com/office/drawing/2014/main" id="{F6F60FC8-28F6-0BFD-302E-8D92B8C9AF6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49099" y="3441219"/>
            <a:ext cx="5032113" cy="1427796"/>
          </a:xfrm>
          <a:prstGeom prst="rect">
            <a:avLst/>
          </a:prstGeom>
        </p:spPr>
      </p:pic>
      <p:pic>
        <p:nvPicPr>
          <p:cNvPr id="21" name="Picture 20" descr="The image features a minimalist design with a circular shape, two black circular lines, and a white 'N' and 'R' symbol, suggesting a logo for a tech or gaming brand.&#10;&#10;AI-generated content may be incorrect.">
            <a:extLst>
              <a:ext uri="{FF2B5EF4-FFF2-40B4-BE49-F238E27FC236}">
                <a16:creationId xmlns:a16="http://schemas.microsoft.com/office/drawing/2014/main" id="{AB2DE6B2-6D4B-3E96-4485-292F93C9F890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47017" y="3058672"/>
            <a:ext cx="2469447" cy="152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81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567D7B-70EF-AC67-578B-F6E66705CEDF}"/>
              </a:ext>
            </a:extLst>
          </p:cNvPr>
          <p:cNvSpPr/>
          <p:nvPr userDrawn="1"/>
        </p:nvSpPr>
        <p:spPr>
          <a:xfrm>
            <a:off x="583982" y="3226515"/>
            <a:ext cx="17120034" cy="47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8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Questions?</a:t>
            </a:r>
            <a:endParaRPr lang="en-US" sz="1400" dirty="0"/>
          </a:p>
        </p:txBody>
      </p:sp>
      <p:pic>
        <p:nvPicPr>
          <p:cNvPr id="21" name="Picture 20" descr="The image showcases a diverse array of tech brands and services, including Robopack, Nerdio, Netnordic, ManageEngine, Coligo, FÃ¶nedeploy Cornerstone, Windows Deployment Reimagined, AscIber, and Admin, all presented in a stylized, staggered format.&#10;&#10;AI-generated content may be incorrect.">
            <a:extLst>
              <a:ext uri="{FF2B5EF4-FFF2-40B4-BE49-F238E27FC236}">
                <a16:creationId xmlns:a16="http://schemas.microsoft.com/office/drawing/2014/main" id="{04B64AB9-A989-1B82-0BF3-3908913A60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0320" y="5880415"/>
            <a:ext cx="9187359" cy="307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50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4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8">
            <a:extLst>
              <a:ext uri="{FF2B5EF4-FFF2-40B4-BE49-F238E27FC236}">
                <a16:creationId xmlns:a16="http://schemas.microsoft.com/office/drawing/2014/main" id="{C67362BE-55D1-6890-6925-263ECDD8E0E4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7417937" y="8819535"/>
            <a:ext cx="3452126" cy="1467465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A506E498-7E11-9B42-6D37-2D54DEC6EF75}"/>
              </a:ext>
            </a:extLst>
          </p:cNvPr>
          <p:cNvSpPr txBox="1"/>
          <p:nvPr userDrawn="1"/>
        </p:nvSpPr>
        <p:spPr>
          <a:xfrm>
            <a:off x="6345366" y="370446"/>
            <a:ext cx="55972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Montserrat ExtraBold" panose="00000900000000000000" pitchFamily="2" charset="0"/>
                <a:cs typeface="Segoe UI Light" panose="020B0502040204020203" pitchFamily="34" charset="0"/>
              </a:rPr>
              <a:t>#ELSE</a:t>
            </a:r>
            <a:r>
              <a:rPr lang="en-GB" sz="2400" b="1" dirty="0">
                <a:solidFill>
                  <a:srgbClr val="008BD2"/>
                </a:solidFill>
                <a:latin typeface="Montserrat ExtraBold" panose="00000900000000000000" pitchFamily="2" charset="0"/>
                <a:cs typeface="Segoe UI Light" panose="020B0502040204020203" pitchFamily="34" charset="0"/>
              </a:rPr>
              <a:t>26</a:t>
            </a:r>
          </a:p>
          <a:p>
            <a:pPr algn="ctr"/>
            <a:r>
              <a:rPr lang="en-GB" sz="1400" b="0" dirty="0">
                <a:solidFill>
                  <a:schemeClr val="bg1"/>
                </a:solidFill>
                <a:latin typeface="Montserrat ExtraBold" panose="00000900000000000000" pitchFamily="2" charset="0"/>
                <a:cs typeface="Segoe UI Light" panose="020B0502040204020203" pitchFamily="34" charset="0"/>
              </a:rPr>
              <a:t>Experts Live Sweden 2026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D2E4CF9D-43EA-62D1-7A97-27FDDF658552}"/>
              </a:ext>
            </a:extLst>
          </p:cNvPr>
          <p:cNvSpPr txBox="1"/>
          <p:nvPr userDrawn="1"/>
        </p:nvSpPr>
        <p:spPr>
          <a:xfrm>
            <a:off x="6345366" y="360614"/>
            <a:ext cx="55972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Montserrat ExtraBold" panose="00000900000000000000" pitchFamily="2" charset="0"/>
                <a:cs typeface="Segoe UI Light" panose="020B0502040204020203" pitchFamily="34" charset="0"/>
              </a:rPr>
              <a:t>#ELSE</a:t>
            </a:r>
            <a:r>
              <a:rPr lang="en-GB" sz="2400" b="1" dirty="0">
                <a:solidFill>
                  <a:srgbClr val="008BD2"/>
                </a:solidFill>
                <a:latin typeface="Montserrat ExtraBold" panose="00000900000000000000" pitchFamily="2" charset="0"/>
                <a:cs typeface="Segoe UI Light" panose="020B0502040204020203" pitchFamily="34" charset="0"/>
              </a:rPr>
              <a:t>26</a:t>
            </a:r>
          </a:p>
          <a:p>
            <a:pPr algn="ctr"/>
            <a:r>
              <a:rPr lang="en-GB" sz="1400" b="0" dirty="0">
                <a:solidFill>
                  <a:schemeClr val="bg1"/>
                </a:solidFill>
                <a:latin typeface="Montserrat ExtraBold" panose="00000900000000000000" pitchFamily="2" charset="0"/>
                <a:cs typeface="Segoe UI Light" panose="020B0502040204020203" pitchFamily="34" charset="0"/>
              </a:rPr>
              <a:t>Experts Live Sweden 2026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09CE0-ACDF-2E01-9AEE-A870B391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30" y="688695"/>
            <a:ext cx="15773400" cy="1351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9F692-D162-3542-FCB0-3706E1329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30" y="2540824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4" r:id="rId3"/>
    <p:sldLayoutId id="2147483661" r:id="rId4"/>
    <p:sldLayoutId id="2147483662" r:id="rId5"/>
    <p:sldLayoutId id="2147483663" r:id="rId6"/>
    <p:sldLayoutId id="2147483665" r:id="rId7"/>
    <p:sldLayoutId id="2147483667" r:id="rId8"/>
    <p:sldLayoutId id="2147483668" r:id="rId9"/>
    <p:sldLayoutId id="2147483670" r:id="rId10"/>
    <p:sldLayoutId id="2147483674" r:id="rId11"/>
    <p:sldLayoutId id="2147483675" r:id="rId12"/>
    <p:sldLayoutId id="2147483676" r:id="rId13"/>
    <p:sldLayoutId id="2147483677" r:id="rId14"/>
    <p:sldLayoutId id="2147483659" r:id="rId15"/>
    <p:sldLayoutId id="2147483683" r:id="rId16"/>
    <p:sldLayoutId id="2147483660" r:id="rId17"/>
    <p:sldLayoutId id="2147483672" r:id="rId18"/>
    <p:sldLayoutId id="2147483673" r:id="rId19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6000" b="1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0.png"/><Relationship Id="rId5" Type="http://schemas.openxmlformats.org/officeDocument/2006/relationships/customXml" Target="../ink/ink2.xml"/><Relationship Id="rId4" Type="http://schemas.openxmlformats.org/officeDocument/2006/relationships/image" Target="../media/image2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6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customXml" Target="../ink/ink7.xml"/><Relationship Id="rId18" Type="http://schemas.openxmlformats.org/officeDocument/2006/relationships/image" Target="../media/image43.png"/><Relationship Id="rId3" Type="http://schemas.openxmlformats.org/officeDocument/2006/relationships/image" Target="../media/image38.svg"/><Relationship Id="rId21" Type="http://schemas.openxmlformats.org/officeDocument/2006/relationships/image" Target="../media/image40.png"/><Relationship Id="rId7" Type="http://schemas.openxmlformats.org/officeDocument/2006/relationships/customXml" Target="../ink/ink4.xml"/><Relationship Id="rId12" Type="http://schemas.openxmlformats.org/officeDocument/2006/relationships/image" Target="../media/image47.png"/><Relationship Id="rId17" Type="http://schemas.openxmlformats.org/officeDocument/2006/relationships/customXml" Target="../ink/ink9.xml"/><Relationship Id="rId25" Type="http://schemas.openxmlformats.org/officeDocument/2006/relationships/image" Target="../media/image51.png"/><Relationship Id="rId2" Type="http://schemas.openxmlformats.org/officeDocument/2006/relationships/image" Target="../media/image37.svg"/><Relationship Id="rId16" Type="http://schemas.openxmlformats.org/officeDocument/2006/relationships/image" Target="../media/image49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11" Type="http://schemas.openxmlformats.org/officeDocument/2006/relationships/customXml" Target="../ink/ink6.xml"/><Relationship Id="rId24" Type="http://schemas.openxmlformats.org/officeDocument/2006/relationships/customXml" Target="../ink/ink12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23" Type="http://schemas.openxmlformats.org/officeDocument/2006/relationships/image" Target="../media/image50.png"/><Relationship Id="rId10" Type="http://schemas.openxmlformats.org/officeDocument/2006/relationships/image" Target="../media/image46.png"/><Relationship Id="rId19" Type="http://schemas.openxmlformats.org/officeDocument/2006/relationships/customXml" Target="../ink/ink10.xml"/><Relationship Id="rId4" Type="http://schemas.openxmlformats.org/officeDocument/2006/relationships/image" Target="../media/image39.svg"/><Relationship Id="rId9" Type="http://schemas.openxmlformats.org/officeDocument/2006/relationships/customXml" Target="../ink/ink5.xml"/><Relationship Id="rId14" Type="http://schemas.openxmlformats.org/officeDocument/2006/relationships/image" Target="../media/image48.png"/><Relationship Id="rId22" Type="http://schemas.openxmlformats.org/officeDocument/2006/relationships/customXml" Target="../ink/ink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25.svg"/><Relationship Id="rId7" Type="http://schemas.openxmlformats.org/officeDocument/2006/relationships/customXml" Target="../ink/ink1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svg"/><Relationship Id="rId5" Type="http://schemas.openxmlformats.org/officeDocument/2006/relationships/image" Target="../media/image42.svg"/><Relationship Id="rId4" Type="http://schemas.openxmlformats.org/officeDocument/2006/relationships/image" Target="../media/image43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sv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53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388410" y="3049575"/>
            <a:ext cx="10890675" cy="2717800"/>
          </a:xfrm>
        </p:spPr>
        <p:txBody>
          <a:bodyPr/>
          <a:lstStyle/>
          <a:p>
            <a:r>
              <a:rPr dirty="0">
                <a:solidFill>
                  <a:srgbClr val="F7F9FF"/>
                </a:solidFill>
                <a:latin typeface="Segoe UI Semibold"/>
              </a:rPr>
              <a:t>Treasure Hunting in Azure with KQL as Your Map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1388942" y="5143500"/>
            <a:ext cx="9799638" cy="1358427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rgbClr val="B8C4DC"/>
                </a:solidFill>
                <a:latin typeface="Segoe UI"/>
              </a:rPr>
              <a:t>Kusto Query Language (KQL) combined with Azure Resource Graph provides a fast, powerful way to explore, analyze, and gain insights across your cloud environment.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1366654" y="7153646"/>
            <a:ext cx="4692090" cy="577850"/>
          </a:xfrm>
        </p:spPr>
        <p:txBody>
          <a:bodyPr/>
          <a:lstStyle/>
          <a:p>
            <a:r>
              <a:rPr dirty="0">
                <a:solidFill>
                  <a:srgbClr val="F7F9FF"/>
                </a:solidFill>
                <a:latin typeface="Segoe UI Semibold"/>
              </a:rPr>
              <a:t>Emanuel Palm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1366654" y="7677191"/>
            <a:ext cx="8260268" cy="416762"/>
          </a:xfrm>
        </p:spPr>
        <p:txBody>
          <a:bodyPr/>
          <a:lstStyle/>
          <a:p>
            <a:r>
              <a:rPr sz="1600" dirty="0">
                <a:solidFill>
                  <a:srgbClr val="FFC000"/>
                </a:solidFill>
                <a:latin typeface="Segoe UI"/>
              </a:rPr>
              <a:t>Cloud Specialist &amp; Microsoft MVP @ Unwonted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4690BC-0726-219F-251F-BE783DF80408}"/>
              </a:ext>
            </a:extLst>
          </p:cNvPr>
          <p:cNvSpPr/>
          <p:nvPr/>
        </p:nvSpPr>
        <p:spPr>
          <a:xfrm>
            <a:off x="1388409" y="1051303"/>
            <a:ext cx="2581105" cy="785695"/>
          </a:xfrm>
          <a:prstGeom prst="roundRect">
            <a:avLst/>
          </a:prstGeom>
          <a:solidFill>
            <a:srgbClr val="6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>
                <a:solidFill>
                  <a:srgbClr val="1E3480"/>
                </a:solidFill>
                <a:latin typeface="Segoe UI Semibold"/>
              </a:rPr>
              <a:t>Cloud &amp; Infrastructure</a:t>
            </a:r>
            <a:endParaRPr sz="1600" dirty="0">
              <a:solidFill>
                <a:srgbClr val="1E3480"/>
              </a:solidFill>
              <a:latin typeface="Segoe UI 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A5774-A9C6-232C-7D84-B00C009DDF70}"/>
              </a:ext>
            </a:extLst>
          </p:cNvPr>
          <p:cNvSpPr txBox="1"/>
          <p:nvPr/>
        </p:nvSpPr>
        <p:spPr>
          <a:xfrm>
            <a:off x="3969514" y="1282567"/>
            <a:ext cx="7254653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dirty="0">
                <a:solidFill>
                  <a:srgbClr val="E3E3E3"/>
                </a:solidFill>
                <a:latin typeface="Segoe UI"/>
              </a:rPr>
              <a:t>T</a:t>
            </a:r>
            <a:r>
              <a:rPr lang="sv-SE" sz="1500" dirty="0" err="1">
                <a:solidFill>
                  <a:srgbClr val="E3E3E3"/>
                </a:solidFill>
                <a:latin typeface="Segoe UI"/>
              </a:rPr>
              <a:t>uesday</a:t>
            </a:r>
            <a:r>
              <a:rPr lang="sv-SE" sz="1500" dirty="0">
                <a:solidFill>
                  <a:srgbClr val="E3E3E3"/>
                </a:solidFill>
                <a:latin typeface="Segoe UI"/>
              </a:rPr>
              <a:t> 13 </a:t>
            </a:r>
            <a:r>
              <a:rPr lang="sv-SE" sz="1500" dirty="0" err="1">
                <a:solidFill>
                  <a:srgbClr val="E3E3E3"/>
                </a:solidFill>
                <a:latin typeface="Segoe UI"/>
              </a:rPr>
              <a:t>October</a:t>
            </a:r>
            <a:endParaRPr sz="1500" dirty="0">
              <a:solidFill>
                <a:srgbClr val="E3E3E3"/>
              </a:solidFill>
              <a:latin typeface="Segoe U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BFC87-617F-41C4-21AA-42F9877EBF13}"/>
              </a:ext>
            </a:extLst>
          </p:cNvPr>
          <p:cNvSpPr txBox="1">
            <a:spLocks/>
          </p:cNvSpPr>
          <p:nvPr/>
        </p:nvSpPr>
        <p:spPr>
          <a:xfrm>
            <a:off x="3306954" y="1907606"/>
            <a:ext cx="2581105" cy="1021556"/>
          </a:xfrm>
          <a:prstGeom prst="roundRect">
            <a:avLst/>
          </a:prstGeom>
          <a:solidFill>
            <a:schemeClr val="accent4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5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0"/>
              </a:spcBef>
              <a:buFont typeface="Arial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0"/>
              </a:spcBef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ts val="0"/>
              </a:spcBef>
              <a:buFont typeface="Arial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0"/>
              </a:spcBef>
              <a:buFont typeface="Arial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Room B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5D79E5-A5B3-563A-FEF5-B505B7C4D762}"/>
              </a:ext>
            </a:extLst>
          </p:cNvPr>
          <p:cNvSpPr txBox="1">
            <a:spLocks/>
          </p:cNvSpPr>
          <p:nvPr/>
        </p:nvSpPr>
        <p:spPr>
          <a:xfrm>
            <a:off x="1388411" y="1908157"/>
            <a:ext cx="1918543" cy="9144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5400" b="1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ts val="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15:40</a:t>
            </a:r>
          </a:p>
        </p:txBody>
      </p:sp>
      <p:pic>
        <p:nvPicPr>
          <p:cNvPr id="14" name="Picture Placeholder 5" descr="speakerpng">
            <a:extLst>
              <a:ext uri="{FF2B5EF4-FFF2-40B4-BE49-F238E27FC236}">
                <a16:creationId xmlns:a16="http://schemas.microsoft.com/office/drawing/2014/main" id="{5C1B59D3-1825-A6C4-D248-0815E5F84BC4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/>
          <a:srcRect t="748" b="748"/>
          <a:stretch>
            <a:fillRect/>
          </a:stretch>
        </p:blipFill>
        <p:spPr>
          <a:xfrm>
            <a:off x="13849356" y="1074553"/>
            <a:ext cx="4154328" cy="4092197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437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Emanuel Palm</a:t>
            </a:r>
          </a:p>
        </p:txBody>
      </p:sp>
      <p:sp>
        <p:nvSpPr>
          <p:cNvPr id="9001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274902" y="3333922"/>
            <a:ext cx="10210363" cy="320534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E3E8F2"/>
                </a:solidFill>
                <a:latin typeface="Segoe UI"/>
              </a:rPr>
              <a:t>💙 Everything-as-Code</a:t>
            </a:r>
            <a:endParaRPr dirty="0">
              <a:solidFill>
                <a:srgbClr val="E3E8F2"/>
              </a:solidFill>
              <a:latin typeface="Segoe UI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E3E8F2"/>
                </a:solidFill>
                <a:latin typeface="Segoe UI"/>
              </a:rPr>
              <a:t>📦 Makes modules &amp; tools</a:t>
            </a:r>
            <a:endParaRPr dirty="0">
              <a:solidFill>
                <a:srgbClr val="E3E8F2"/>
              </a:solidFill>
              <a:latin typeface="Segoe UI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E3E8F2"/>
                </a:solidFill>
                <a:latin typeface="Segoe UI"/>
              </a:rPr>
              <a:t>📃 Fan of Open Source</a:t>
            </a:r>
          </a:p>
        </p:txBody>
      </p:sp>
      <p:sp>
        <p:nvSpPr>
          <p:cNvPr id="9003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2800" dirty="0">
                <a:latin typeface="Segoe UI" panose="020B0502040204020203" pitchFamily="34" charset="0"/>
                <a:cs typeface="Segoe UI" panose="020B0502040204020203" pitchFamily="34" charset="0"/>
              </a:rPr>
              <a:t>Cloud Specialist </a:t>
            </a:r>
            <a:r>
              <a:rPr lang="sv-SE" sz="2800" dirty="0">
                <a:latin typeface="Segoe UI" panose="020B0502040204020203" pitchFamily="34" charset="0"/>
                <a:cs typeface="Segoe UI" panose="020B0502040204020203" pitchFamily="34" charset="0"/>
              </a:rPr>
              <a:t>&amp; Microsoft MVP </a:t>
            </a:r>
            <a:r>
              <a:rPr sz="2800" dirty="0">
                <a:latin typeface="Segoe UI" panose="020B0502040204020203" pitchFamily="34" charset="0"/>
                <a:cs typeface="Segoe UI" panose="020B0502040204020203" pitchFamily="34" charset="0"/>
              </a:rPr>
              <a:t>@ </a:t>
            </a:r>
            <a:r>
              <a:rPr sz="28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Unwonted</a:t>
            </a:r>
          </a:p>
        </p:txBody>
      </p:sp>
      <p:pic>
        <p:nvPicPr>
          <p:cNvPr id="9004" name="Picture Placeholder 5" descr="speakerpng"/>
          <p:cNvPicPr>
            <a:picLocks noGrp="1" noChangeAspect="1"/>
          </p:cNvPicPr>
          <p:nvPr>
            <p:ph type="pic" sz="quarter" idx="22"/>
          </p:nvPr>
        </p:nvPicPr>
        <p:blipFill>
          <a:blip r:embed="rId2"/>
          <a:srcRect t="748" b="748"/>
          <a:stretch>
            <a:fillRect/>
          </a:stretch>
        </p:blipFill>
        <p:spPr>
          <a:xfrm>
            <a:off x="13849356" y="1074553"/>
            <a:ext cx="4154328" cy="4092197"/>
          </a:xfr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02EC189-BAB5-A069-D15C-6BCC0ED0CA3E}"/>
              </a:ext>
            </a:extLst>
          </p:cNvPr>
          <p:cNvGrpSpPr/>
          <p:nvPr/>
        </p:nvGrpSpPr>
        <p:grpSpPr>
          <a:xfrm>
            <a:off x="1274902" y="6911462"/>
            <a:ext cx="2200000" cy="511955"/>
            <a:chOff x="9775935" y="6229126"/>
            <a:chExt cx="1691379" cy="393596"/>
          </a:xfrm>
        </p:grpSpPr>
        <p:pic>
          <p:nvPicPr>
            <p:cNvPr id="13" name="Graphic 56">
              <a:extLst>
                <a:ext uri="{FF2B5EF4-FFF2-40B4-BE49-F238E27FC236}">
                  <a16:creationId xmlns:a16="http://schemas.microsoft.com/office/drawing/2014/main" id="{2A2DC6F3-9A88-72E8-D65C-2960114891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280577" y="6229126"/>
              <a:ext cx="391207" cy="383223"/>
            </a:xfrm>
            <a:prstGeom prst="rect">
              <a:avLst/>
            </a:prstGeom>
            <a:effectLst/>
          </p:spPr>
        </p:pic>
        <p:pic>
          <p:nvPicPr>
            <p:cNvPr id="14" name="Graphic 56">
              <a:extLst>
                <a:ext uri="{FF2B5EF4-FFF2-40B4-BE49-F238E27FC236}">
                  <a16:creationId xmlns:a16="http://schemas.microsoft.com/office/drawing/2014/main" id="{3F619B66-E565-FA04-2496-F7DC352A9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0696834" y="6263498"/>
              <a:ext cx="320788" cy="327874"/>
            </a:xfrm>
            <a:prstGeom prst="rect">
              <a:avLst/>
            </a:prstGeom>
            <a:effectLst/>
          </p:spPr>
        </p:pic>
        <p:pic>
          <p:nvPicPr>
            <p:cNvPr id="15" name="Picture 14" descr="A black and white logo&#10;&#10;Description automatically generated">
              <a:extLst>
                <a:ext uri="{FF2B5EF4-FFF2-40B4-BE49-F238E27FC236}">
                  <a16:creationId xmlns:a16="http://schemas.microsoft.com/office/drawing/2014/main" id="{0B82BB6F-ADC7-9511-BB28-0CDDA5B50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83688" y="6239096"/>
              <a:ext cx="383626" cy="383626"/>
            </a:xfrm>
            <a:prstGeom prst="rect">
              <a:avLst/>
            </a:prstGeom>
          </p:spPr>
        </p:pic>
        <p:pic>
          <p:nvPicPr>
            <p:cNvPr id="16" name="Picture 15" descr="A blue butterfly on a black background&#10;&#10;AI-generated content may be incorrect.">
              <a:extLst>
                <a:ext uri="{FF2B5EF4-FFF2-40B4-BE49-F238E27FC236}">
                  <a16:creationId xmlns:a16="http://schemas.microsoft.com/office/drawing/2014/main" id="{0FCF77FA-238D-FBC0-366F-94F44C3B3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5935" y="6240132"/>
              <a:ext cx="438576" cy="3825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05" name="TextBox 9004"/>
          <p:cNvSpPr txBox="1"/>
          <p:nvPr/>
        </p:nvSpPr>
        <p:spPr>
          <a:xfrm>
            <a:off x="3529486" y="6837527"/>
            <a:ext cx="3443571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>
                <a:solidFill>
                  <a:srgbClr val="E3E8F2"/>
                </a:solidFill>
                <a:latin typeface="Segoe UI Semibold"/>
              </a:rPr>
              <a:t>@PalmEmanuel</a:t>
            </a:r>
          </a:p>
        </p:txBody>
      </p:sp>
      <p:pic>
        <p:nvPicPr>
          <p:cNvPr id="6" name="Picture 5" descr="A logo with a white cloud and a colorful circle&#10;&#10;Description automatically generated">
            <a:extLst>
              <a:ext uri="{FF2B5EF4-FFF2-40B4-BE49-F238E27FC236}">
                <a16:creationId xmlns:a16="http://schemas.microsoft.com/office/drawing/2014/main" id="{2BED39B6-1FCD-A92F-1634-0E73D80CDF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3671" y="6075080"/>
            <a:ext cx="3585697" cy="3585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7ECB76-DFAC-4C64-E4FA-0B3F83F73000}"/>
              </a:ext>
            </a:extLst>
          </p:cNvPr>
          <p:cNvSpPr txBox="1"/>
          <p:nvPr/>
        </p:nvSpPr>
        <p:spPr>
          <a:xfrm>
            <a:off x="981228" y="5521082"/>
            <a:ext cx="49873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6600" dirty="0"/>
              <a:t>🏃</a:t>
            </a:r>
            <a:r>
              <a:rPr lang="en-US" sz="6600" dirty="0"/>
              <a:t>🧗🥏🍰🧙</a:t>
            </a:r>
          </a:p>
        </p:txBody>
      </p:sp>
    </p:spTree>
    <p:extLst>
      <p:ext uri="{BB962C8B-B14F-4D97-AF65-F5344CB8AC3E}">
        <p14:creationId xmlns:p14="http://schemas.microsoft.com/office/powerpoint/2010/main" val="215337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0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01" grpId="0" build="p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2030" y="1042065"/>
            <a:ext cx="15773400" cy="1351120"/>
          </a:xfrm>
        </p:spPr>
        <p:txBody>
          <a:bodyPr/>
          <a:lstStyle/>
          <a:p>
            <a:r>
              <a:rPr dirty="0">
                <a:solidFill>
                  <a:srgbClr val="F7F9FF"/>
                </a:solidFill>
                <a:latin typeface="Segoe UI Semibold"/>
              </a:rPr>
              <a:t>What’s a pirate’s favorite Azure service? 🏴‍☠️</a:t>
            </a:r>
          </a:p>
        </p:txBody>
      </p:sp>
      <p:pic>
        <p:nvPicPr>
          <p:cNvPr id="9" name="Picture 2" descr="High Quality Gives Pause Pirate Blank Meme Template">
            <a:extLst>
              <a:ext uri="{FF2B5EF4-FFF2-40B4-BE49-F238E27FC236}">
                <a16:creationId xmlns:a16="http://schemas.microsoft.com/office/drawing/2014/main" id="{1D0ED9F0-2367-3E2E-9A6B-F2A82C6B3D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"/>
          <a:stretch>
            <a:fillRect/>
          </a:stretch>
        </p:blipFill>
        <p:spPr bwMode="auto">
          <a:xfrm>
            <a:off x="11305811" y="2733427"/>
            <a:ext cx="6296389" cy="5500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BA7A6D9-1164-7C38-674E-C3F7EB33EAD5}"/>
              </a:ext>
            </a:extLst>
          </p:cNvPr>
          <p:cNvGrpSpPr/>
          <p:nvPr/>
        </p:nvGrpSpPr>
        <p:grpSpPr>
          <a:xfrm>
            <a:off x="874823" y="893333"/>
            <a:ext cx="16538354" cy="8500334"/>
            <a:chOff x="896088" y="1155153"/>
            <a:chExt cx="10515924" cy="5404944"/>
          </a:xfrm>
        </p:grpSpPr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E6F99858-075A-997D-66E3-98A1C41317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088" y="1928812"/>
              <a:ext cx="3353991" cy="3857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Oval Callout 20">
              <a:extLst>
                <a:ext uri="{FF2B5EF4-FFF2-40B4-BE49-F238E27FC236}">
                  <a16:creationId xmlns:a16="http://schemas.microsoft.com/office/drawing/2014/main" id="{D93BEDC6-93EF-6770-071A-33789CF790CF}"/>
                </a:ext>
              </a:extLst>
            </p:cNvPr>
            <p:cNvSpPr/>
            <p:nvPr/>
          </p:nvSpPr>
          <p:spPr>
            <a:xfrm>
              <a:off x="4957072" y="1155153"/>
              <a:ext cx="6432367" cy="5404944"/>
            </a:xfrm>
            <a:prstGeom prst="wedgeEllipseCallout">
              <a:avLst>
                <a:gd name="adj1" fmla="val -77266"/>
                <a:gd name="adj2" fmla="val -1974"/>
              </a:avLst>
            </a:prstGeom>
            <a:solidFill>
              <a:srgbClr val="1E3480"/>
            </a:solidFill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BF1EAD2E-0E5A-04AB-0808-45ACB6E4D9F6}"/>
                </a:ext>
              </a:extLst>
            </p:cNvPr>
            <p:cNvSpPr txBox="1">
              <a:spLocks/>
            </p:cNvSpPr>
            <p:nvPr/>
          </p:nvSpPr>
          <p:spPr>
            <a:xfrm>
              <a:off x="4957072" y="1748610"/>
              <a:ext cx="6454940" cy="3672408"/>
            </a:xfrm>
            <a:prstGeom prst="rect">
              <a:avLst/>
            </a:prstGeom>
          </p:spPr>
          <p:txBody>
            <a:bodyPr vert="horz" lIns="137160" tIns="68580" rIns="137160" bIns="68580" rtlCol="0" anchor="ctr">
              <a:normAutofit fontScale="975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800" kern="1200" baseline="0">
                  <a:solidFill>
                    <a:srgbClr val="ED2A24"/>
                  </a:solidFill>
                  <a:ea typeface="+mj-ea"/>
                </a:defRPr>
              </a:lvl1pPr>
            </a:lstStyle>
            <a:p>
              <a:r>
                <a:rPr lang="en-US" sz="22300" dirty="0">
                  <a:solidFill>
                    <a:srgbClr val="FFC000"/>
                  </a:solidFill>
                  <a:latin typeface="+mn-lt"/>
                </a:rPr>
                <a:t>ARG!</a:t>
              </a:r>
              <a:br>
                <a:rPr lang="en-US" sz="13100" dirty="0">
                  <a:solidFill>
                    <a:schemeClr val="bg1"/>
                  </a:solidFill>
                  <a:latin typeface="+mn-lt"/>
                </a:rPr>
              </a:br>
              <a:endParaRPr lang="en-US" sz="13100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117F934-05AB-1EA0-51C4-8F6D2BF505DE}"/>
              </a:ext>
            </a:extLst>
          </p:cNvPr>
          <p:cNvSpPr txBox="1"/>
          <p:nvPr/>
        </p:nvSpPr>
        <p:spPr>
          <a:xfrm>
            <a:off x="7765347" y="4997854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n-lt"/>
              </a:rPr>
              <a:t>Please raise your hand at any point if you have a question!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7F9FF"/>
                </a:solidFill>
                <a:latin typeface="Segoe UI Semibold"/>
              </a:rPr>
              <a:t>Azure Resource Graph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0"/>
          </p:nvPr>
        </p:nvSpPr>
        <p:spPr>
          <a:xfrm>
            <a:off x="241300" y="2220913"/>
            <a:ext cx="15482404" cy="674211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E3E8F2"/>
                </a:solidFill>
                <a:latin typeface="Segoe UI"/>
              </a:rPr>
              <a:t>Query the Azure management plane</a:t>
            </a:r>
            <a:endParaRPr sz="4800" dirty="0">
              <a:solidFill>
                <a:srgbClr val="E3E8F2"/>
              </a:solidFill>
              <a:latin typeface="Segoe UI"/>
            </a:endParaRPr>
          </a:p>
          <a:p>
            <a:pPr lvl="1"/>
            <a:r>
              <a:rPr lang="en-US" sz="4400" dirty="0">
                <a:solidFill>
                  <a:srgbClr val="E3E8F2"/>
                </a:solidFill>
                <a:latin typeface="Segoe UI"/>
              </a:rPr>
              <a:t>Across management groups and subscriptions</a:t>
            </a:r>
            <a:endParaRPr sz="4400" dirty="0">
              <a:solidFill>
                <a:srgbClr val="E3E8F2"/>
              </a:solidFill>
              <a:latin typeface="Segoe U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E3E8F2"/>
                </a:solidFill>
                <a:latin typeface="Segoe UI"/>
              </a:rPr>
              <a:t>Uses Kusto Query Language (KQL)</a:t>
            </a:r>
            <a:endParaRPr sz="4800" dirty="0">
              <a:solidFill>
                <a:srgbClr val="E3E8F2"/>
              </a:solidFill>
              <a:latin typeface="Segoe UI"/>
            </a:endParaRPr>
          </a:p>
          <a:p>
            <a:pPr lvl="1"/>
            <a:r>
              <a:rPr lang="en-US" sz="4400" dirty="0">
                <a:solidFill>
                  <a:srgbClr val="E3E8F2"/>
                </a:solidFill>
                <a:latin typeface="Segoe UI"/>
              </a:rPr>
              <a:t>A subset of the KQL supported by</a:t>
            </a:r>
            <a:br>
              <a:rPr lang="en-US" sz="4400" dirty="0">
                <a:solidFill>
                  <a:schemeClr val="bg1"/>
                </a:solidFill>
                <a:latin typeface="Segoe UI"/>
              </a:rPr>
            </a:br>
            <a:r>
              <a:rPr lang="en-US" sz="4400" dirty="0">
                <a:solidFill>
                  <a:schemeClr val="bg1"/>
                </a:solidFill>
                <a:latin typeface="Segoe UI"/>
              </a:rPr>
              <a:t>	Azure Monitor/Log Analytics, Data Explorer, Sentinel</a:t>
            </a:r>
            <a:endParaRPr sz="4400" dirty="0">
              <a:solidFill>
                <a:schemeClr val="bg1"/>
              </a:solidFill>
              <a:latin typeface="Segoe U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E3E8F2"/>
                </a:solidFill>
                <a:latin typeface="Segoe UI"/>
              </a:rPr>
              <a:t>Based on Azure RBAC with your own permissions</a:t>
            </a:r>
            <a:endParaRPr sz="4800" dirty="0">
              <a:solidFill>
                <a:srgbClr val="E3E8F2"/>
              </a:solidFill>
              <a:latin typeface="Segoe U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E3E8F2"/>
                </a:solidFill>
                <a:latin typeface="Segoe UI"/>
              </a:rPr>
              <a:t>Flexible usage through tooling</a:t>
            </a:r>
            <a:endParaRPr sz="4800" dirty="0">
              <a:solidFill>
                <a:srgbClr val="E3E8F2"/>
              </a:solidFill>
              <a:latin typeface="Segoe U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800" dirty="0">
              <a:solidFill>
                <a:srgbClr val="E3E8F2"/>
              </a:solidFill>
              <a:latin typeface="Segoe UI"/>
            </a:endParaRPr>
          </a:p>
        </p:txBody>
      </p:sp>
      <p:sp>
        <p:nvSpPr>
          <p:cNvPr id="7" name="Plassholder for tekst 2">
            <a:extLst>
              <a:ext uri="{FF2B5EF4-FFF2-40B4-BE49-F238E27FC236}">
                <a16:creationId xmlns:a16="http://schemas.microsoft.com/office/drawing/2014/main" id="{D1188FA5-55BB-DF4D-7E9E-4CA49B995311}"/>
              </a:ext>
            </a:extLst>
          </p:cNvPr>
          <p:cNvSpPr txBox="1">
            <a:spLocks/>
          </p:cNvSpPr>
          <p:nvPr/>
        </p:nvSpPr>
        <p:spPr>
          <a:xfrm>
            <a:off x="685800" y="2345532"/>
            <a:ext cx="12344400" cy="39957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4800" kern="1200">
                <a:solidFill>
                  <a:srgbClr val="62D5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7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981A689-7A46-3230-2D38-46B40B2A9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4061" y="196474"/>
            <a:ext cx="3497782" cy="349778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84C4BEA-018B-8907-E531-599AAB165B87}"/>
              </a:ext>
            </a:extLst>
          </p:cNvPr>
          <p:cNvGrpSpPr/>
          <p:nvPr/>
        </p:nvGrpSpPr>
        <p:grpSpPr>
          <a:xfrm rot="21437984">
            <a:off x="1194286" y="4738350"/>
            <a:ext cx="13007921" cy="1565836"/>
            <a:chOff x="4156776" y="2579638"/>
            <a:chExt cx="3130629" cy="42505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33565F-70F8-8687-81CA-B1F12A86D254}"/>
                    </a:ext>
                  </a:extLst>
                </p14:cNvPr>
                <p14:cNvContentPartPr/>
                <p14:nvPr/>
              </p14:nvContentPartPr>
              <p14:xfrm rot="21514194">
                <a:off x="4198016" y="2579638"/>
                <a:ext cx="3089389" cy="425056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2256D3E-4B8D-693A-DCDD-FC475E83D1E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1514194">
                  <a:off x="4181641" y="2563592"/>
                  <a:ext cx="3121812" cy="4574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82D3CBB-B15B-6F7A-DE8D-BA8D1CA2061D}"/>
                    </a:ext>
                  </a:extLst>
                </p14:cNvPr>
                <p14:cNvContentPartPr/>
                <p14:nvPr/>
              </p14:nvContentPartPr>
              <p14:xfrm rot="335331">
                <a:off x="4156776" y="2635637"/>
                <a:ext cx="3098520" cy="309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C0B588A-F398-639B-6997-D6EC92E5ED0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 rot="335331">
                  <a:off x="4140728" y="2619256"/>
                  <a:ext cx="3130943" cy="342034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0" dur="indefinite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4" dur="indefinite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2" dur="indefinite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15" grpId="1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7F9FF"/>
                </a:solidFill>
                <a:latin typeface="Segoe UI Semibold"/>
              </a:rPr>
              <a:t>Azure Resource Graph Explorer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714478C5-6E9F-B888-148F-362878477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9346" y="2648846"/>
            <a:ext cx="4989308" cy="49893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7F9FF"/>
                </a:solidFill>
                <a:latin typeface="Segoe UI Semibold"/>
              </a:rPr>
              <a:t>Azure Resource Graph Explorer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F52A2B-D7EA-6990-5F98-4FF216C30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3324" y="0"/>
            <a:ext cx="18574646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7F9FF"/>
                </a:solidFill>
                <a:latin typeface="Segoe UI Semibold"/>
              </a:rPr>
              <a:t>Azure Resource Graph Explorer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69A12D-A6CF-3507-7C14-3AFD64167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3324" y="5022"/>
            <a:ext cx="18574646" cy="102769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DB3ECB-4CAA-0F02-05D8-412A10A31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0782" y="-5024"/>
            <a:ext cx="632054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09FD9C-07BB-9A6F-8512-60A77A83B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0034" y="-5024"/>
            <a:ext cx="6331288" cy="10287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C0FD4CF-A780-18E1-661F-B86040A782C5}"/>
              </a:ext>
            </a:extLst>
          </p:cNvPr>
          <p:cNvSpPr/>
          <p:nvPr/>
        </p:nvSpPr>
        <p:spPr>
          <a:xfrm>
            <a:off x="1824608" y="1371981"/>
            <a:ext cx="931176" cy="3267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CE42ED-2917-0203-B030-BF55A14BD96D}"/>
              </a:ext>
            </a:extLst>
          </p:cNvPr>
          <p:cNvSpPr/>
          <p:nvPr/>
        </p:nvSpPr>
        <p:spPr>
          <a:xfrm>
            <a:off x="12872907" y="2428612"/>
            <a:ext cx="2000774" cy="76759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7F9FF"/>
                </a:solidFill>
                <a:latin typeface="Segoe UI Semibold"/>
              </a:rPr>
              <a:t>Azure Resource Graph Explorer</a:t>
            </a:r>
          </a:p>
        </p:txBody>
      </p:sp>
      <p:pic>
        <p:nvPicPr>
          <p:cNvPr id="16" name="Picture 4" descr="This Is Brilliant But I Like This Meme Generator - Piñata Farms - The best  meme generator and meme maker for video &amp; image memes">
            <a:extLst>
              <a:ext uri="{FF2B5EF4-FFF2-40B4-BE49-F238E27FC236}">
                <a16:creationId xmlns:a16="http://schemas.microsoft.com/office/drawing/2014/main" id="{6A31C904-A99E-D34D-E70B-4C7C48071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676" y="2300000"/>
            <a:ext cx="6440647" cy="66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blue ribbon with a black background&#10;&#10;AI-generated content may be incorrect.">
            <a:extLst>
              <a:ext uri="{FF2B5EF4-FFF2-40B4-BE49-F238E27FC236}">
                <a16:creationId xmlns:a16="http://schemas.microsoft.com/office/drawing/2014/main" id="{CC9367BF-57A2-F5B6-9A60-BE8CF9921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974" y="3450528"/>
            <a:ext cx="1483201" cy="1483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F83C9C-37D4-E7E7-F44B-75FCD17F33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15473" y="3769629"/>
            <a:ext cx="1744869" cy="965398"/>
          </a:xfrm>
          <a:prstGeom prst="rect">
            <a:avLst/>
          </a:prstGeom>
        </p:spPr>
      </p:pic>
      <p:pic>
        <p:nvPicPr>
          <p:cNvPr id="7" name="Picture 6" descr="A blue ribbon with a black background&#10;&#10;AI-generated content may be incorrect.">
            <a:extLst>
              <a:ext uri="{FF2B5EF4-FFF2-40B4-BE49-F238E27FC236}">
                <a16:creationId xmlns:a16="http://schemas.microsoft.com/office/drawing/2014/main" id="{E094AAB9-C33C-F3C4-8ACB-075506385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832" y="6621639"/>
            <a:ext cx="1483201" cy="1483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449811-F8E8-775D-039F-401BE56574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84532" y="7082320"/>
            <a:ext cx="1744869" cy="965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F0570B4F-9C27-AE55-962E-15762E0BD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468" y="2875248"/>
            <a:ext cx="4536504" cy="453650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13335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EB5539-B9D1-1AEA-372B-ADBA3AA148F5}"/>
              </a:ext>
            </a:extLst>
          </p:cNvPr>
          <p:cNvSpPr txBox="1"/>
          <p:nvPr/>
        </p:nvSpPr>
        <p:spPr>
          <a:xfrm>
            <a:off x="1238250" y="2950146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IntelliSense for ARG KQL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1FCA16-310F-483C-7371-C1E88E0FD1CC}"/>
              </a:ext>
            </a:extLst>
          </p:cNvPr>
          <p:cNvSpPr txBox="1"/>
          <p:nvPr/>
        </p:nvSpPr>
        <p:spPr>
          <a:xfrm>
            <a:off x="13257268" y="3138315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Syntax highlighting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41B98-CAF5-862A-8BD1-08E46AC54BD9}"/>
              </a:ext>
            </a:extLst>
          </p:cNvPr>
          <p:cNvSpPr txBox="1"/>
          <p:nvPr/>
        </p:nvSpPr>
        <p:spPr>
          <a:xfrm>
            <a:off x="2260068" y="4595254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Visualized result tables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15EAED-3A8D-7A5D-CED7-C71220D4A2AC}"/>
              </a:ext>
            </a:extLst>
          </p:cNvPr>
          <p:cNvSpPr txBox="1"/>
          <p:nvPr/>
        </p:nvSpPr>
        <p:spPr>
          <a:xfrm>
            <a:off x="10313940" y="7946134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tooling in VS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D6BF8D-7489-A47D-1B97-0CE8116F3F3A}"/>
              </a:ext>
            </a:extLst>
          </p:cNvPr>
          <p:cNvSpPr txBox="1"/>
          <p:nvPr/>
        </p:nvSpPr>
        <p:spPr>
          <a:xfrm>
            <a:off x="4057650" y="8090842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Excel-like data filtering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B276D-CEDC-C859-6F33-5D52133BC533}"/>
              </a:ext>
            </a:extLst>
          </p:cNvPr>
          <p:cNvSpPr txBox="1"/>
          <p:nvPr/>
        </p:nvSpPr>
        <p:spPr>
          <a:xfrm>
            <a:off x="12979408" y="6324414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Row comparison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70E8B-C511-4588-94E7-53A78F849AF3}"/>
              </a:ext>
            </a:extLst>
          </p:cNvPr>
          <p:cNvSpPr txBox="1"/>
          <p:nvPr/>
        </p:nvSpPr>
        <p:spPr>
          <a:xfrm>
            <a:off x="2050518" y="6305235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Entra ID identity lookups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BBF9FB-6839-BEAA-2E4C-144A093CB2CB}"/>
              </a:ext>
            </a:extLst>
          </p:cNvPr>
          <p:cNvSpPr txBox="1"/>
          <p:nvPr/>
        </p:nvSpPr>
        <p:spPr>
          <a:xfrm>
            <a:off x="12628620" y="4743592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Built-in documentation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AF4F5A1-5F36-1841-407B-1EFC90A4F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664125"/>
            <a:ext cx="15773400" cy="1351120"/>
          </a:xfrm>
        </p:spPr>
        <p:txBody>
          <a:bodyPr/>
          <a:lstStyle/>
          <a:p>
            <a:r>
              <a:rPr dirty="0">
                <a:solidFill>
                  <a:srgbClr val="F7F9FF"/>
                </a:solidFill>
                <a:latin typeface="Segoe UI Semibold"/>
              </a:rPr>
              <a:t>Azure Resource Graph Explorer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10CC631-78F2-D9D3-29DC-960AD1355261}"/>
              </a:ext>
            </a:extLst>
          </p:cNvPr>
          <p:cNvSpPr txBox="1">
            <a:spLocks/>
          </p:cNvSpPr>
          <p:nvPr/>
        </p:nvSpPr>
        <p:spPr>
          <a:xfrm>
            <a:off x="162030" y="688695"/>
            <a:ext cx="15773400" cy="1351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60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boosted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167A1A-E619-61F8-1C06-BFFD184506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099"/>
          <a:stretch>
            <a:fillRect/>
          </a:stretch>
        </p:blipFill>
        <p:spPr>
          <a:xfrm>
            <a:off x="0" y="0"/>
            <a:ext cx="18288000" cy="9006840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771DB68-7942-7FFB-514C-416147739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966" y="369243"/>
            <a:ext cx="1355986" cy="1355986"/>
          </a:xfrm>
          <a:prstGeom prst="snip2DiagRect">
            <a:avLst>
              <a:gd name="adj1" fmla="val 0"/>
              <a:gd name="adj2" fmla="val 0"/>
            </a:avLst>
          </a:prstGeom>
          <a:noFill/>
          <a:ln w="133350" cap="sq">
            <a:noFill/>
            <a:miter lim="800000"/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7F9FF"/>
                </a:solidFill>
                <a:latin typeface="Segoe UI Semibold"/>
              </a:rPr>
              <a:t>Ways to use Azure Resource Graph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F12977-463C-D51D-5BEE-B916CAF0A2FE}"/>
              </a:ext>
            </a:extLst>
          </p:cNvPr>
          <p:cNvGrpSpPr/>
          <p:nvPr/>
        </p:nvGrpSpPr>
        <p:grpSpPr>
          <a:xfrm>
            <a:off x="674782" y="2536034"/>
            <a:ext cx="3804504" cy="4312336"/>
            <a:chOff x="797710" y="2083666"/>
            <a:chExt cx="1287264" cy="145909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92095BB-400D-6A4D-5096-A9B7BD2FA1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7710" y="2083666"/>
              <a:ext cx="1287264" cy="128726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CCFE26-E340-F241-E5F6-982B5AE6F69E}"/>
                </a:ext>
              </a:extLst>
            </p:cNvPr>
            <p:cNvSpPr txBox="1"/>
            <p:nvPr/>
          </p:nvSpPr>
          <p:spPr>
            <a:xfrm>
              <a:off x="1028373" y="3370930"/>
              <a:ext cx="825937" cy="1718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Azure Portal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E86A9F-1E57-3418-2367-9CAC1F8B522B}"/>
              </a:ext>
            </a:extLst>
          </p:cNvPr>
          <p:cNvGrpSpPr/>
          <p:nvPr/>
        </p:nvGrpSpPr>
        <p:grpSpPr>
          <a:xfrm>
            <a:off x="5048223" y="2276008"/>
            <a:ext cx="4304480" cy="4572362"/>
            <a:chOff x="2771800" y="1995686"/>
            <a:chExt cx="1456432" cy="1547070"/>
          </a:xfrm>
        </p:grpSpPr>
        <p:pic>
          <p:nvPicPr>
            <p:cNvPr id="13" name="Picture 12" descr="A white arrow in a blue square&#10;&#10;AI-generated content may be incorrect.">
              <a:extLst>
                <a:ext uri="{FF2B5EF4-FFF2-40B4-BE49-F238E27FC236}">
                  <a16:creationId xmlns:a16="http://schemas.microsoft.com/office/drawing/2014/main" id="{AB9450B3-9863-F0C1-42E9-E6A79B331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1800" y="1995686"/>
              <a:ext cx="1456432" cy="145643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CBABF6-6B79-A6B7-A745-C097AB0A8A07}"/>
                </a:ext>
              </a:extLst>
            </p:cNvPr>
            <p:cNvSpPr txBox="1"/>
            <p:nvPr/>
          </p:nvSpPr>
          <p:spPr>
            <a:xfrm>
              <a:off x="2970216" y="3370930"/>
              <a:ext cx="1070007" cy="1718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PowerShell &amp; CLI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2E807E-4417-F222-21CA-482C9253DCEB}"/>
              </a:ext>
            </a:extLst>
          </p:cNvPr>
          <p:cNvGrpSpPr/>
          <p:nvPr/>
        </p:nvGrpSpPr>
        <p:grpSpPr>
          <a:xfrm>
            <a:off x="9921639" y="2536032"/>
            <a:ext cx="3458630" cy="4312338"/>
            <a:chOff x="5014728" y="2083666"/>
            <a:chExt cx="1170236" cy="1459090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0DF33B09-2982-428E-D4AC-3605A34E2D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014728" y="2083666"/>
              <a:ext cx="1170236" cy="119624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83655C-0E1D-766A-91ED-55D0F6772C94}"/>
                </a:ext>
              </a:extLst>
            </p:cNvPr>
            <p:cNvSpPr txBox="1"/>
            <p:nvPr/>
          </p:nvSpPr>
          <p:spPr>
            <a:xfrm>
              <a:off x="5308913" y="3370930"/>
              <a:ext cx="581866" cy="1718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REST API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188E0D9-C45A-69A3-913B-02260CE11241}"/>
              </a:ext>
            </a:extLst>
          </p:cNvPr>
          <p:cNvGrpSpPr/>
          <p:nvPr/>
        </p:nvGrpSpPr>
        <p:grpSpPr>
          <a:xfrm>
            <a:off x="13949205" y="2658699"/>
            <a:ext cx="3535484" cy="4186460"/>
            <a:chOff x="6971460" y="2124115"/>
            <a:chExt cx="1196240" cy="1416499"/>
          </a:xfrm>
        </p:grpSpPr>
        <p:pic>
          <p:nvPicPr>
            <p:cNvPr id="19" name="Picture 18" descr="A blue ribbon with a black background&#10;&#10;AI-generated content may be incorrect.">
              <a:extLst>
                <a:ext uri="{FF2B5EF4-FFF2-40B4-BE49-F238E27FC236}">
                  <a16:creationId xmlns:a16="http://schemas.microsoft.com/office/drawing/2014/main" id="{29D97899-92B9-B5A3-BF40-1CDA2A4A4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71460" y="2124115"/>
              <a:ext cx="1196240" cy="119624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5A32BE-E178-150C-C52A-15FF0F389D39}"/>
                </a:ext>
              </a:extLst>
            </p:cNvPr>
            <p:cNvSpPr txBox="1"/>
            <p:nvPr/>
          </p:nvSpPr>
          <p:spPr>
            <a:xfrm>
              <a:off x="7309156" y="3368788"/>
              <a:ext cx="520848" cy="1718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VS Code</a:t>
              </a:r>
            </a:p>
          </p:txBody>
        </p:sp>
      </p:grpSp>
      <p:pic>
        <p:nvPicPr>
          <p:cNvPr id="21" name="Picture 2">
            <a:extLst>
              <a:ext uri="{FF2B5EF4-FFF2-40B4-BE49-F238E27FC236}">
                <a16:creationId xmlns:a16="http://schemas.microsoft.com/office/drawing/2014/main" id="{C47671CC-F3AC-1C1B-6F8D-B88BF11F4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3540" y="3613810"/>
            <a:ext cx="1612808" cy="1612808"/>
          </a:xfrm>
          <a:prstGeom prst="snip2DiagRect">
            <a:avLst>
              <a:gd name="adj1" fmla="val 0"/>
              <a:gd name="adj2" fmla="val 0"/>
            </a:avLst>
          </a:prstGeom>
          <a:noFill/>
          <a:ln w="133350" cap="sq">
            <a:noFill/>
            <a:miter lim="800000"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7F9FF"/>
                </a:solidFill>
                <a:latin typeface="Segoe UI Semibold"/>
              </a:rPr>
              <a:t>ARG KQL Syntax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93920B6-9317-2F89-DF5F-4A7734913D84}"/>
              </a:ext>
            </a:extLst>
          </p:cNvPr>
          <p:cNvSpPr txBox="1">
            <a:spLocks/>
          </p:cNvSpPr>
          <p:nvPr/>
        </p:nvSpPr>
        <p:spPr>
          <a:xfrm>
            <a:off x="3155745" y="2039815"/>
            <a:ext cx="7551632" cy="45372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4800" kern="1200">
                <a:solidFill>
                  <a:srgbClr val="62D5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42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Tables</a:t>
            </a:r>
          </a:p>
          <a:p>
            <a:r>
              <a:rPr lang="en-US" sz="3000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 </a:t>
            </a:r>
          </a:p>
          <a:p>
            <a:r>
              <a:rPr lang="en-US" sz="3000" dirty="0" err="1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ResourceContainers</a:t>
            </a:r>
            <a:endParaRPr lang="en-US" sz="3000" dirty="0">
              <a:solidFill>
                <a:schemeClr val="bg2"/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  <a:p>
            <a:r>
              <a:rPr lang="en-US" sz="3000" dirty="0" err="1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AuthorizationResources</a:t>
            </a:r>
            <a:endParaRPr lang="en-US" sz="3000" dirty="0">
              <a:solidFill>
                <a:schemeClr val="bg2"/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  <a:p>
            <a:r>
              <a:rPr lang="en-US" sz="3000" dirty="0" err="1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PolicyResources</a:t>
            </a:r>
            <a:endParaRPr lang="en-US" sz="3000" dirty="0">
              <a:solidFill>
                <a:schemeClr val="bg2"/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471E331-261B-6E30-8921-C8C32EC97D13}"/>
              </a:ext>
            </a:extLst>
          </p:cNvPr>
          <p:cNvSpPr txBox="1">
            <a:spLocks/>
          </p:cNvSpPr>
          <p:nvPr/>
        </p:nvSpPr>
        <p:spPr>
          <a:xfrm>
            <a:off x="10346704" y="2039815"/>
            <a:ext cx="5510516" cy="4083996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3000" b="0" i="0" strike="noStrike" kern="1200" baseline="0">
                <a:solidFill>
                  <a:srgbClr val="B0FFFF"/>
                </a:solidFill>
                <a:ea typeface="+mn-e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2700" b="0" i="0" kern="1200" baseline="0">
                <a:solidFill>
                  <a:srgbClr val="B0FFFF"/>
                </a:solidFill>
                <a:ea typeface="+mn-ea"/>
              </a:defRPr>
            </a:lvl2pPr>
            <a:lvl3pPr marL="1257300" indent="-34290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2700" b="0" i="0" kern="1200" baseline="0">
                <a:solidFill>
                  <a:srgbClr val="B0FFFF"/>
                </a:solidFill>
                <a:ea typeface="+mn-ea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2100" b="0" i="0" kern="1200" baseline="0">
                <a:solidFill>
                  <a:srgbClr val="B0FFFF"/>
                </a:solidFill>
                <a:ea typeface="+mn-ea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2100" b="0" i="0" kern="1200" baseline="0">
                <a:solidFill>
                  <a:srgbClr val="B0FFFF"/>
                </a:solidFill>
                <a:ea typeface="+mn-e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336297"/>
              </a:buClr>
              <a:buNone/>
            </a:pPr>
            <a:r>
              <a:rPr lang="en-US" sz="42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Functions</a:t>
            </a:r>
          </a:p>
          <a:p>
            <a:pPr marL="342900" indent="-342900">
              <a:buClr>
                <a:srgbClr val="336297"/>
              </a:buClr>
              <a:buFont typeface="Wingdings" pitchFamily="2" charset="2"/>
              <a:buChar char="§"/>
            </a:pPr>
            <a:r>
              <a:rPr lang="en-US" dirty="0" err="1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tostring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()</a:t>
            </a:r>
          </a:p>
          <a:p>
            <a:pPr marL="342900" indent="-342900">
              <a:buClr>
                <a:srgbClr val="336297"/>
              </a:buClr>
              <a:buFont typeface="Wingdings" pitchFamily="2" charset="2"/>
              <a:buChar char="§"/>
            </a:pPr>
            <a:r>
              <a:rPr lang="en-US" dirty="0" err="1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isnotempty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()</a:t>
            </a:r>
          </a:p>
          <a:p>
            <a:pPr marL="342900" indent="-342900">
              <a:buClr>
                <a:srgbClr val="336297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rand()</a:t>
            </a:r>
          </a:p>
          <a:p>
            <a:pPr marL="342900" indent="-342900">
              <a:buClr>
                <a:srgbClr val="336297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 </a:t>
            </a:r>
            <a:endParaRPr lang="en-US" sz="4200" dirty="0">
              <a:solidFill>
                <a:schemeClr val="bg2"/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  <a:p>
            <a:pPr>
              <a:buClr>
                <a:srgbClr val="336297"/>
              </a:buClr>
              <a:buFont typeface="Wingdings" pitchFamily="2" charset="2"/>
              <a:buChar char="§"/>
            </a:pPr>
            <a:endParaRPr lang="en-US" dirty="0">
              <a:solidFill>
                <a:schemeClr val="bg2"/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ED59274-799D-724D-7DA5-C07DCB8C06E8}"/>
              </a:ext>
            </a:extLst>
          </p:cNvPr>
          <p:cNvSpPr txBox="1">
            <a:spLocks/>
          </p:cNvSpPr>
          <p:nvPr/>
        </p:nvSpPr>
        <p:spPr>
          <a:xfrm>
            <a:off x="10346704" y="6294420"/>
            <a:ext cx="5510516" cy="4270656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3000" b="0" i="0" strike="noStrike" kern="1200" baseline="0">
                <a:solidFill>
                  <a:srgbClr val="B0FFFF"/>
                </a:solidFill>
                <a:ea typeface="+mn-e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2700" b="0" i="0" kern="1200" baseline="0">
                <a:solidFill>
                  <a:srgbClr val="B0FFFF"/>
                </a:solidFill>
                <a:ea typeface="+mn-ea"/>
              </a:defRPr>
            </a:lvl2pPr>
            <a:lvl3pPr marL="1257300" indent="-34290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2700" b="0" i="0" kern="1200" baseline="0">
                <a:solidFill>
                  <a:srgbClr val="B0FFFF"/>
                </a:solidFill>
                <a:ea typeface="+mn-ea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2100" b="0" i="0" kern="1200" baseline="0">
                <a:solidFill>
                  <a:srgbClr val="B0FFFF"/>
                </a:solidFill>
                <a:ea typeface="+mn-ea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2100" b="0" i="0" kern="1200" baseline="0">
                <a:solidFill>
                  <a:srgbClr val="B0FFFF"/>
                </a:solidFill>
                <a:ea typeface="+mn-e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336297"/>
              </a:buClr>
              <a:buNone/>
            </a:pPr>
            <a:r>
              <a:rPr lang="en-US" sz="42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Keywords</a:t>
            </a:r>
          </a:p>
          <a:p>
            <a:pPr marL="342900" indent="-342900">
              <a:buClr>
                <a:srgbClr val="336297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 </a:t>
            </a:r>
          </a:p>
          <a:p>
            <a:pPr marL="342900" indent="-342900">
              <a:buClr>
                <a:srgbClr val="336297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or</a:t>
            </a:r>
          </a:p>
          <a:p>
            <a:pPr marL="342900" indent="-342900">
              <a:buClr>
                <a:srgbClr val="336297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by</a:t>
            </a:r>
          </a:p>
          <a:p>
            <a:pPr marL="342900" indent="-342900">
              <a:buClr>
                <a:srgbClr val="336297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on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0BB2FBE-9295-DA88-F049-B41BDCFABF71}"/>
              </a:ext>
            </a:extLst>
          </p:cNvPr>
          <p:cNvSpPr txBox="1">
            <a:spLocks/>
          </p:cNvSpPr>
          <p:nvPr/>
        </p:nvSpPr>
        <p:spPr>
          <a:xfrm>
            <a:off x="3155745" y="6246294"/>
            <a:ext cx="7551632" cy="4537294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3000" b="0" i="0" strike="noStrike" kern="1200" baseline="0">
                <a:solidFill>
                  <a:srgbClr val="B0FFFF"/>
                </a:solidFill>
                <a:ea typeface="+mn-e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2700" b="0" i="0" kern="1200" baseline="0">
                <a:solidFill>
                  <a:srgbClr val="B0FFFF"/>
                </a:solidFill>
                <a:ea typeface="+mn-ea"/>
              </a:defRPr>
            </a:lvl2pPr>
            <a:lvl3pPr marL="1257300" indent="-34290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2700" b="0" i="0" kern="1200" baseline="0">
                <a:solidFill>
                  <a:srgbClr val="B0FFFF"/>
                </a:solidFill>
                <a:ea typeface="+mn-ea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2100" b="0" i="0" kern="1200" baseline="0">
                <a:solidFill>
                  <a:srgbClr val="B0FFFF"/>
                </a:solidFill>
                <a:ea typeface="+mn-ea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C000"/>
              </a:buClr>
              <a:buFont typeface="Arial"/>
              <a:buChar char="•"/>
              <a:defRPr sz="2100" b="0" i="0" kern="1200" baseline="0">
                <a:solidFill>
                  <a:srgbClr val="B0FFFF"/>
                </a:solidFill>
                <a:ea typeface="+mn-e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336297"/>
              </a:buClr>
              <a:buNone/>
            </a:pPr>
            <a:r>
              <a:rPr lang="en-US" sz="42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Operators</a:t>
            </a:r>
          </a:p>
          <a:p>
            <a:pPr marL="342900" indent="-342900">
              <a:buClr>
                <a:srgbClr val="336297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 </a:t>
            </a:r>
          </a:p>
          <a:p>
            <a:pPr marL="342900" indent="-342900">
              <a:buClr>
                <a:srgbClr val="336297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 </a:t>
            </a:r>
          </a:p>
          <a:p>
            <a:pPr marL="342900" indent="-342900">
              <a:buClr>
                <a:srgbClr val="336297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project</a:t>
            </a:r>
          </a:p>
          <a:p>
            <a:pPr marL="342900" indent="-342900">
              <a:buClr>
                <a:srgbClr val="336297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join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EFCC4C-EE4D-B2E9-A45A-107EA3DEDDAA}"/>
              </a:ext>
            </a:extLst>
          </p:cNvPr>
          <p:cNvSpPr txBox="1"/>
          <p:nvPr/>
        </p:nvSpPr>
        <p:spPr>
          <a:xfrm>
            <a:off x="3390374" y="2781540"/>
            <a:ext cx="28911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000" dirty="0">
                <a:solidFill>
                  <a:schemeClr val="bg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R</a:t>
            </a:r>
            <a:r>
              <a:rPr lang="en-US" sz="3000" b="0" dirty="0">
                <a:solidFill>
                  <a:schemeClr val="bg2"/>
                </a:solidFill>
                <a:effectLst/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esources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8C4466-5F2F-5765-4BB0-CD0B559C1FCA}"/>
              </a:ext>
            </a:extLst>
          </p:cNvPr>
          <p:cNvSpPr txBox="1"/>
          <p:nvPr/>
        </p:nvSpPr>
        <p:spPr>
          <a:xfrm>
            <a:off x="3506092" y="6988813"/>
            <a:ext cx="17854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dirty="0">
                <a:solidFill>
                  <a:schemeClr val="bg2"/>
                </a:solidFill>
                <a:effectLst/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where</a:t>
            </a:r>
            <a:endParaRPr lang="en-US" sz="3000" dirty="0">
              <a:solidFill>
                <a:schemeClr val="bg2"/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98219C-0E76-A093-C455-0297B2C0FA1D}"/>
              </a:ext>
            </a:extLst>
          </p:cNvPr>
          <p:cNvSpPr txBox="1"/>
          <p:nvPr/>
        </p:nvSpPr>
        <p:spPr>
          <a:xfrm>
            <a:off x="3506092" y="7572649"/>
            <a:ext cx="26977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dirty="0">
                <a:solidFill>
                  <a:schemeClr val="bg2"/>
                </a:solidFill>
                <a:effectLst/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contains</a:t>
            </a:r>
            <a:endParaRPr lang="en-US" sz="3000" dirty="0">
              <a:solidFill>
                <a:schemeClr val="bg2"/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C1DECA-60E5-0169-A2F5-8B4DF17E9BC4}"/>
              </a:ext>
            </a:extLst>
          </p:cNvPr>
          <p:cNvSpPr txBox="1"/>
          <p:nvPr/>
        </p:nvSpPr>
        <p:spPr>
          <a:xfrm>
            <a:off x="10686734" y="4396326"/>
            <a:ext cx="25596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dirty="0">
                <a:solidFill>
                  <a:schemeClr val="bg2"/>
                </a:solidFill>
                <a:effectLst/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not(</a:t>
            </a:r>
            <a:endParaRPr lang="en-US" sz="3000" dirty="0">
              <a:solidFill>
                <a:schemeClr val="bg2"/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1F5168-A38C-7028-CA4F-8EB04A7BC36B}"/>
              </a:ext>
            </a:extLst>
          </p:cNvPr>
          <p:cNvSpPr txBox="1"/>
          <p:nvPr/>
        </p:nvSpPr>
        <p:spPr>
          <a:xfrm>
            <a:off x="11596264" y="4396326"/>
            <a:ext cx="10968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dirty="0">
                <a:solidFill>
                  <a:schemeClr val="bg2"/>
                </a:solidFill>
                <a:effectLst/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)</a:t>
            </a:r>
            <a:endParaRPr lang="en-US" sz="3000" dirty="0">
              <a:solidFill>
                <a:schemeClr val="bg2"/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6FC0B3-EFFA-DA9C-1C40-E148DA43CCBB}"/>
              </a:ext>
            </a:extLst>
          </p:cNvPr>
          <p:cNvSpPr txBox="1"/>
          <p:nvPr/>
        </p:nvSpPr>
        <p:spPr>
          <a:xfrm>
            <a:off x="10707375" y="7022815"/>
            <a:ext cx="2088038" cy="600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dirty="0">
                <a:solidFill>
                  <a:srgbClr val="62D5FF"/>
                </a:solidFill>
                <a:effectLst/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and</a:t>
            </a:r>
            <a:endParaRPr lang="en-US" sz="3000" dirty="0">
              <a:solidFill>
                <a:srgbClr val="62D5FF"/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4E1D9F-4F18-436A-F000-E65B6DF1DCD4}"/>
              </a:ext>
            </a:extLst>
          </p:cNvPr>
          <p:cNvSpPr txBox="1"/>
          <p:nvPr/>
        </p:nvSpPr>
        <p:spPr>
          <a:xfrm>
            <a:off x="10707376" y="7021470"/>
            <a:ext cx="20880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dirty="0">
                <a:solidFill>
                  <a:schemeClr val="bg2"/>
                </a:solidFill>
                <a:effectLst/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and</a:t>
            </a:r>
            <a:endParaRPr lang="en-US" sz="3000" dirty="0">
              <a:solidFill>
                <a:schemeClr val="bg2"/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2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4" dur="indefinite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7" dur="indefinite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indefinite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5" dur="indefinite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indefinite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8" dur="indefinite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indefinite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1" dur="indefinite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7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indefinite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0" dur="indefinite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3" dur="indefinite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1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4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7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0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3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6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9" dur="indefinite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5" grpId="1" build="p"/>
      <p:bldP spid="6" grpId="0" uiExpand="1" build="p"/>
      <p:bldP spid="6" grpId="1" uiExpand="1" build="allAtOnce"/>
      <p:bldP spid="7" grpId="0" uiExpand="1" build="p"/>
      <p:bldP spid="22" grpId="0" uiExpand="1" build="p"/>
      <p:bldP spid="22" grpId="1" build="allAtOnce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373B5EF-6E7F-9405-042D-0782E9DCD816}"/>
              </a:ext>
            </a:extLst>
          </p:cNvPr>
          <p:cNvSpPr/>
          <p:nvPr/>
        </p:nvSpPr>
        <p:spPr>
          <a:xfrm>
            <a:off x="1148316" y="2700670"/>
            <a:ext cx="15608596" cy="4359349"/>
          </a:xfrm>
          <a:prstGeom prst="roundRect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7F9FF"/>
                </a:solidFill>
                <a:latin typeface="Segoe UI Semibold"/>
              </a:rPr>
              <a:t>Example 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E228FD-9E50-809B-F4A0-232256010571}"/>
              </a:ext>
            </a:extLst>
          </p:cNvPr>
          <p:cNvSpPr txBox="1"/>
          <p:nvPr/>
        </p:nvSpPr>
        <p:spPr>
          <a:xfrm>
            <a:off x="2119767" y="3450040"/>
            <a:ext cx="14857136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4200" b="0" dirty="0">
              <a:solidFill>
                <a:srgbClr val="8C8C8C"/>
              </a:solidFill>
              <a:effectLst/>
              <a:latin typeface="Cascadia Code" panose="020B0609020000020004" pitchFamily="34" charset="0"/>
            </a:endParaRPr>
          </a:p>
          <a:p>
            <a:pPr>
              <a:buNone/>
            </a:pP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| </a:t>
            </a:r>
            <a:r>
              <a:rPr lang="en-US" sz="4200" dirty="0">
                <a:solidFill>
                  <a:srgbClr val="C586C0"/>
                </a:solidFill>
                <a:latin typeface="Cascadia Code" panose="020B0609020000020004" pitchFamily="34" charset="0"/>
              </a:rPr>
              <a:t>     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type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chemeClr val="tx1"/>
                </a:solidFill>
                <a:effectLst/>
                <a:latin typeface="Cascadia Code" panose="020B0609020000020004" pitchFamily="34" charset="0"/>
              </a:rPr>
              <a:t>==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 err="1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microsoft.keyvault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/vaults’</a:t>
            </a:r>
          </a:p>
          <a:p>
            <a:pPr>
              <a:buNone/>
            </a:pP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            name</a:t>
            </a:r>
            <a:r>
              <a:rPr lang="en-US" sz="4200" b="0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        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 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 err="1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kv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’</a:t>
            </a:r>
          </a:p>
          <a:p>
            <a:pPr>
              <a:buNone/>
            </a:pP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		    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rgbClr val="DCDCAA"/>
                </a:solidFill>
                <a:effectLst/>
                <a:latin typeface="Cascadia Code" panose="020B0609020000020004" pitchFamily="34" charset="0"/>
              </a:rPr>
              <a:t>     </a:t>
            </a:r>
            <a:r>
              <a:rPr lang="en-US" sz="4200" b="0" dirty="0">
                <a:solidFill>
                  <a:schemeClr val="tx1"/>
                </a:solidFill>
                <a:effectLst/>
                <a:latin typeface="Cascadia Code" panose="020B0609020000020004" pitchFamily="34" charset="0"/>
              </a:rPr>
              <a:t>tags</a:t>
            </a:r>
            <a:r>
              <a:rPr lang="en-US" sz="4200" b="0" dirty="0">
                <a:solidFill>
                  <a:srgbClr val="6A9955"/>
                </a:solidFill>
                <a:effectLst/>
                <a:latin typeface="Cascadia Code" panose="020B0609020000020004" pitchFamily="34" charset="0"/>
              </a:rPr>
              <a:t>[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env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’</a:t>
            </a:r>
            <a:r>
              <a:rPr lang="en-US" sz="4200" b="0" dirty="0">
                <a:solidFill>
                  <a:srgbClr val="6A9955"/>
                </a:solidFill>
                <a:effectLst/>
                <a:latin typeface="Cascadia Code" panose="020B0609020000020004" pitchFamily="34" charset="0"/>
              </a:rPr>
              <a:t>]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chemeClr val="tx1"/>
                </a:solidFill>
                <a:effectLst/>
                <a:latin typeface="Cascadia Code" panose="020B0609020000020004" pitchFamily="34" charset="0"/>
              </a:rPr>
              <a:t>==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prod’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26E20C-5B9A-C4E4-0442-7F4292718D3E}"/>
              </a:ext>
            </a:extLst>
          </p:cNvPr>
          <p:cNvSpPr txBox="1"/>
          <p:nvPr/>
        </p:nvSpPr>
        <p:spPr>
          <a:xfrm>
            <a:off x="2119768" y="3450040"/>
            <a:ext cx="310534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Resources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D17254-70A3-799B-094E-AF52AD1A647E}"/>
              </a:ext>
            </a:extLst>
          </p:cNvPr>
          <p:cNvSpPr txBox="1"/>
          <p:nvPr/>
        </p:nvSpPr>
        <p:spPr>
          <a:xfrm>
            <a:off x="2736075" y="4105488"/>
            <a:ext cx="194897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i="1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where</a:t>
            </a:r>
            <a:endParaRPr lang="en-US" sz="4200" i="1" dirty="0">
              <a:solidFill>
                <a:srgbClr val="C586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798F53-D7AB-98F0-5C30-E141ED643214}"/>
              </a:ext>
            </a:extLst>
          </p:cNvPr>
          <p:cNvSpPr txBox="1"/>
          <p:nvPr/>
        </p:nvSpPr>
        <p:spPr>
          <a:xfrm>
            <a:off x="7444600" y="4743970"/>
            <a:ext cx="292053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i="1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contains </a:t>
            </a:r>
            <a:endParaRPr lang="en-US" sz="4200" i="1" dirty="0">
              <a:solidFill>
                <a:srgbClr val="C586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78473F-63CF-A3EF-136D-12D4CD5E03FC}"/>
              </a:ext>
            </a:extLst>
          </p:cNvPr>
          <p:cNvSpPr txBox="1"/>
          <p:nvPr/>
        </p:nvSpPr>
        <p:spPr>
          <a:xfrm>
            <a:off x="5858170" y="5384283"/>
            <a:ext cx="155532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not(</a:t>
            </a:r>
            <a:endParaRPr lang="en-US" sz="4200" dirty="0">
              <a:solidFill>
                <a:srgbClr val="569CD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20DC26-E20F-A81E-B37E-77B421B34BA4}"/>
              </a:ext>
            </a:extLst>
          </p:cNvPr>
          <p:cNvSpPr txBox="1"/>
          <p:nvPr/>
        </p:nvSpPr>
        <p:spPr>
          <a:xfrm>
            <a:off x="13534346" y="5384283"/>
            <a:ext cx="66648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)</a:t>
            </a:r>
            <a:endParaRPr lang="en-US" sz="4200" dirty="0">
              <a:solidFill>
                <a:srgbClr val="569CD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49427A-2D03-C14B-B8C5-E945452C3956}"/>
              </a:ext>
            </a:extLst>
          </p:cNvPr>
          <p:cNvSpPr txBox="1"/>
          <p:nvPr/>
        </p:nvSpPr>
        <p:spPr>
          <a:xfrm>
            <a:off x="4666980" y="4739374"/>
            <a:ext cx="12687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and</a:t>
            </a:r>
            <a:endParaRPr lang="en-US" sz="4200" dirty="0">
              <a:solidFill>
                <a:srgbClr val="C586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BC95B5-AD4E-A2E1-8E4A-1CCD25C07EC4}"/>
              </a:ext>
            </a:extLst>
          </p:cNvPr>
          <p:cNvSpPr txBox="1"/>
          <p:nvPr/>
        </p:nvSpPr>
        <p:spPr>
          <a:xfrm>
            <a:off x="4646430" y="5384283"/>
            <a:ext cx="12687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and</a:t>
            </a:r>
            <a:endParaRPr lang="en-US" sz="4200" dirty="0">
              <a:solidFill>
                <a:srgbClr val="C586C0"/>
              </a:solidFill>
            </a:endParaRP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1C2D776B-EFB1-F739-8539-4BB1FBB7F74F}"/>
              </a:ext>
            </a:extLst>
          </p:cNvPr>
          <p:cNvSpPr/>
          <p:nvPr/>
        </p:nvSpPr>
        <p:spPr>
          <a:xfrm>
            <a:off x="2119764" y="4121097"/>
            <a:ext cx="13737454" cy="272382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4CB7F-B94A-307E-E45A-B2F893E79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A5C55D-6A85-6D5D-C063-0072298D92D7}"/>
              </a:ext>
            </a:extLst>
          </p:cNvPr>
          <p:cNvSpPr/>
          <p:nvPr/>
        </p:nvSpPr>
        <p:spPr>
          <a:xfrm>
            <a:off x="1148316" y="2700670"/>
            <a:ext cx="15608596" cy="4359349"/>
          </a:xfrm>
          <a:prstGeom prst="roundRect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86382ECC-6D30-A031-3705-556B6C9BF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7F9FF"/>
                </a:solidFill>
                <a:latin typeface="Segoe UI Semibold"/>
              </a:rPr>
              <a:t>Example 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93366-81D9-E31C-72D4-326FD69573E4}"/>
              </a:ext>
            </a:extLst>
          </p:cNvPr>
          <p:cNvSpPr txBox="1"/>
          <p:nvPr/>
        </p:nvSpPr>
        <p:spPr>
          <a:xfrm>
            <a:off x="2119767" y="3450040"/>
            <a:ext cx="14857136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4200" b="0" dirty="0">
              <a:solidFill>
                <a:srgbClr val="8C8C8C"/>
              </a:solidFill>
              <a:effectLst/>
              <a:latin typeface="Cascadia Code" panose="020B0609020000020004" pitchFamily="34" charset="0"/>
            </a:endParaRPr>
          </a:p>
          <a:p>
            <a:pPr>
              <a:buNone/>
            </a:pP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| </a:t>
            </a:r>
            <a:r>
              <a:rPr lang="en-US" sz="4200" dirty="0">
                <a:solidFill>
                  <a:srgbClr val="C586C0"/>
                </a:solidFill>
                <a:latin typeface="Cascadia Code" panose="020B0609020000020004" pitchFamily="34" charset="0"/>
              </a:rPr>
              <a:t>     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type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chemeClr val="tx1"/>
                </a:solidFill>
                <a:effectLst/>
                <a:latin typeface="Cascadia Code" panose="020B0609020000020004" pitchFamily="34" charset="0"/>
              </a:rPr>
              <a:t>==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 err="1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microsoft.keyvault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/vaults’</a:t>
            </a:r>
          </a:p>
          <a:p>
            <a:pPr>
              <a:buNone/>
            </a:pP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            name</a:t>
            </a:r>
            <a:r>
              <a:rPr lang="en-US" sz="4200" b="0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        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 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 err="1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kv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’</a:t>
            </a:r>
          </a:p>
          <a:p>
            <a:pPr>
              <a:buNone/>
            </a:pP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		    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rgbClr val="DCDCAA"/>
                </a:solidFill>
                <a:effectLst/>
                <a:latin typeface="Cascadia Code" panose="020B0609020000020004" pitchFamily="34" charset="0"/>
              </a:rPr>
              <a:t>     </a:t>
            </a:r>
            <a:r>
              <a:rPr lang="en-US" sz="4200" b="0" dirty="0">
                <a:solidFill>
                  <a:schemeClr val="tx1"/>
                </a:solidFill>
                <a:effectLst/>
                <a:latin typeface="Cascadia Code" panose="020B0609020000020004" pitchFamily="34" charset="0"/>
              </a:rPr>
              <a:t>tags</a:t>
            </a:r>
            <a:r>
              <a:rPr lang="en-US" sz="4200" b="0" dirty="0">
                <a:solidFill>
                  <a:srgbClr val="6A9955"/>
                </a:solidFill>
                <a:effectLst/>
                <a:latin typeface="Cascadia Code" panose="020B0609020000020004" pitchFamily="34" charset="0"/>
              </a:rPr>
              <a:t>[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env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’</a:t>
            </a:r>
            <a:r>
              <a:rPr lang="en-US" sz="4200" b="0" dirty="0">
                <a:solidFill>
                  <a:srgbClr val="6A9955"/>
                </a:solidFill>
                <a:effectLst/>
                <a:latin typeface="Cascadia Code" panose="020B0609020000020004" pitchFamily="34" charset="0"/>
              </a:rPr>
              <a:t>]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chemeClr val="tx1"/>
                </a:solidFill>
                <a:effectLst/>
                <a:latin typeface="Cascadia Code" panose="020B0609020000020004" pitchFamily="34" charset="0"/>
              </a:rPr>
              <a:t>==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prod’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F52B6-3DEC-02AE-3DDA-43311F67EA1C}"/>
              </a:ext>
            </a:extLst>
          </p:cNvPr>
          <p:cNvSpPr txBox="1"/>
          <p:nvPr/>
        </p:nvSpPr>
        <p:spPr>
          <a:xfrm>
            <a:off x="2119768" y="3450040"/>
            <a:ext cx="310534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Resources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F59285-B431-B503-9BD4-87FD080C4F69}"/>
              </a:ext>
            </a:extLst>
          </p:cNvPr>
          <p:cNvSpPr txBox="1"/>
          <p:nvPr/>
        </p:nvSpPr>
        <p:spPr>
          <a:xfrm>
            <a:off x="2736075" y="4105488"/>
            <a:ext cx="194897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i="1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where</a:t>
            </a:r>
            <a:endParaRPr lang="en-US" sz="4200" i="1" dirty="0">
              <a:solidFill>
                <a:srgbClr val="C586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C37FAF-96BB-0AF1-D0A9-EDEC68037B67}"/>
              </a:ext>
            </a:extLst>
          </p:cNvPr>
          <p:cNvSpPr txBox="1"/>
          <p:nvPr/>
        </p:nvSpPr>
        <p:spPr>
          <a:xfrm>
            <a:off x="7444600" y="4743970"/>
            <a:ext cx="292053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i="1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contains </a:t>
            </a:r>
            <a:endParaRPr lang="en-US" sz="4200" i="1" dirty="0">
              <a:solidFill>
                <a:srgbClr val="C586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1A2CDA-C6EF-4AE8-CCA3-6A25D27D5B9D}"/>
              </a:ext>
            </a:extLst>
          </p:cNvPr>
          <p:cNvSpPr txBox="1"/>
          <p:nvPr/>
        </p:nvSpPr>
        <p:spPr>
          <a:xfrm>
            <a:off x="5858170" y="5384283"/>
            <a:ext cx="155532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not(</a:t>
            </a:r>
            <a:endParaRPr lang="en-US" sz="4200" dirty="0">
              <a:solidFill>
                <a:srgbClr val="569CD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E665FC-061F-67D3-B85A-B9B5DDE5F73A}"/>
              </a:ext>
            </a:extLst>
          </p:cNvPr>
          <p:cNvSpPr txBox="1"/>
          <p:nvPr/>
        </p:nvSpPr>
        <p:spPr>
          <a:xfrm>
            <a:off x="13534346" y="5384283"/>
            <a:ext cx="66648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)</a:t>
            </a:r>
            <a:endParaRPr lang="en-US" sz="4200" dirty="0">
              <a:solidFill>
                <a:srgbClr val="569CD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92CE0-CB0E-3FBD-3698-A3F45290878A}"/>
              </a:ext>
            </a:extLst>
          </p:cNvPr>
          <p:cNvSpPr txBox="1"/>
          <p:nvPr/>
        </p:nvSpPr>
        <p:spPr>
          <a:xfrm>
            <a:off x="4666980" y="4739374"/>
            <a:ext cx="12687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and</a:t>
            </a:r>
            <a:endParaRPr lang="en-US" sz="4200" dirty="0">
              <a:solidFill>
                <a:srgbClr val="C586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D2C0A3-5112-B295-D6F4-A3BE34B10EB7}"/>
              </a:ext>
            </a:extLst>
          </p:cNvPr>
          <p:cNvSpPr txBox="1"/>
          <p:nvPr/>
        </p:nvSpPr>
        <p:spPr>
          <a:xfrm>
            <a:off x="4646430" y="5384283"/>
            <a:ext cx="12687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and</a:t>
            </a:r>
            <a:endParaRPr lang="en-US" sz="4200" dirty="0">
              <a:solidFill>
                <a:srgbClr val="C586C0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0BC994C-2758-88B2-7A4B-27D239F8D532}"/>
              </a:ext>
            </a:extLst>
          </p:cNvPr>
          <p:cNvSpPr/>
          <p:nvPr/>
        </p:nvSpPr>
        <p:spPr>
          <a:xfrm>
            <a:off x="1825428" y="4094311"/>
            <a:ext cx="14637144" cy="2074802"/>
          </a:xfrm>
          <a:prstGeom prst="roundRect">
            <a:avLst/>
          </a:prstGeom>
          <a:solidFill>
            <a:schemeClr val="bg1">
              <a:lumMod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758E0-FC7D-8264-7764-AA797BA83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6F8B0F-64BD-88C6-435B-98F85A45E0BB}"/>
              </a:ext>
            </a:extLst>
          </p:cNvPr>
          <p:cNvSpPr/>
          <p:nvPr/>
        </p:nvSpPr>
        <p:spPr>
          <a:xfrm>
            <a:off x="1148316" y="2700670"/>
            <a:ext cx="15608596" cy="4359349"/>
          </a:xfrm>
          <a:prstGeom prst="roundRect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3DA0142-4AAF-0A8E-E4DE-861AD3DB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7F9FF"/>
                </a:solidFill>
                <a:latin typeface="Segoe UI Semibold"/>
              </a:rPr>
              <a:t>Example 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EC412D-F38A-7751-EEFE-19D24C5A7DC3}"/>
              </a:ext>
            </a:extLst>
          </p:cNvPr>
          <p:cNvSpPr txBox="1"/>
          <p:nvPr/>
        </p:nvSpPr>
        <p:spPr>
          <a:xfrm>
            <a:off x="2119767" y="3450040"/>
            <a:ext cx="14857136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4200" b="0" dirty="0">
              <a:solidFill>
                <a:srgbClr val="8C8C8C"/>
              </a:solidFill>
              <a:effectLst/>
              <a:latin typeface="Cascadia Code" panose="020B0609020000020004" pitchFamily="34" charset="0"/>
            </a:endParaRPr>
          </a:p>
          <a:p>
            <a:pPr>
              <a:buNone/>
            </a:pP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| </a:t>
            </a:r>
            <a:r>
              <a:rPr lang="en-US" sz="4200" dirty="0">
                <a:solidFill>
                  <a:srgbClr val="C586C0"/>
                </a:solidFill>
                <a:latin typeface="Cascadia Code" panose="020B0609020000020004" pitchFamily="34" charset="0"/>
              </a:rPr>
              <a:t>     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type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chemeClr val="tx1"/>
                </a:solidFill>
                <a:effectLst/>
                <a:latin typeface="Cascadia Code" panose="020B0609020000020004" pitchFamily="34" charset="0"/>
              </a:rPr>
              <a:t>==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 err="1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microsoft.keyvault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/vaults’</a:t>
            </a:r>
          </a:p>
          <a:p>
            <a:pPr>
              <a:buNone/>
            </a:pP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            name</a:t>
            </a:r>
            <a:r>
              <a:rPr lang="en-US" sz="4200" b="0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        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 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 err="1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kv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’</a:t>
            </a:r>
          </a:p>
          <a:p>
            <a:pPr>
              <a:buNone/>
            </a:pP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		    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rgbClr val="DCDCAA"/>
                </a:solidFill>
                <a:effectLst/>
                <a:latin typeface="Cascadia Code" panose="020B0609020000020004" pitchFamily="34" charset="0"/>
              </a:rPr>
              <a:t>     </a:t>
            </a:r>
            <a:r>
              <a:rPr lang="en-US" sz="4200" b="0" dirty="0">
                <a:solidFill>
                  <a:schemeClr val="tx1"/>
                </a:solidFill>
                <a:effectLst/>
                <a:latin typeface="Cascadia Code" panose="020B0609020000020004" pitchFamily="34" charset="0"/>
              </a:rPr>
              <a:t>tags</a:t>
            </a:r>
            <a:r>
              <a:rPr lang="en-US" sz="4200" b="0" dirty="0">
                <a:solidFill>
                  <a:srgbClr val="6A9955"/>
                </a:solidFill>
                <a:effectLst/>
                <a:latin typeface="Cascadia Code" panose="020B0609020000020004" pitchFamily="34" charset="0"/>
              </a:rPr>
              <a:t>[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env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’</a:t>
            </a:r>
            <a:r>
              <a:rPr lang="en-US" sz="4200" b="0" dirty="0">
                <a:solidFill>
                  <a:srgbClr val="6A9955"/>
                </a:solidFill>
                <a:effectLst/>
                <a:latin typeface="Cascadia Code" panose="020B0609020000020004" pitchFamily="34" charset="0"/>
              </a:rPr>
              <a:t>]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chemeClr val="tx1"/>
                </a:solidFill>
                <a:effectLst/>
                <a:latin typeface="Cascadia Code" panose="020B0609020000020004" pitchFamily="34" charset="0"/>
              </a:rPr>
              <a:t>==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prod’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0C27CC-1AFC-917F-5554-AE8ABD4C148B}"/>
              </a:ext>
            </a:extLst>
          </p:cNvPr>
          <p:cNvSpPr txBox="1"/>
          <p:nvPr/>
        </p:nvSpPr>
        <p:spPr>
          <a:xfrm>
            <a:off x="2119768" y="3450040"/>
            <a:ext cx="310534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Resources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20C84-96A5-0BEF-F7CB-E3C8B35CD828}"/>
              </a:ext>
            </a:extLst>
          </p:cNvPr>
          <p:cNvSpPr txBox="1"/>
          <p:nvPr/>
        </p:nvSpPr>
        <p:spPr>
          <a:xfrm>
            <a:off x="2736075" y="4105488"/>
            <a:ext cx="194897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i="1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where</a:t>
            </a:r>
            <a:endParaRPr lang="en-US" sz="4200" i="1" dirty="0">
              <a:solidFill>
                <a:srgbClr val="C586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92436B-8AF2-8B0A-A046-071BF3081F7B}"/>
              </a:ext>
            </a:extLst>
          </p:cNvPr>
          <p:cNvSpPr txBox="1"/>
          <p:nvPr/>
        </p:nvSpPr>
        <p:spPr>
          <a:xfrm>
            <a:off x="7444600" y="4743970"/>
            <a:ext cx="292053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i="1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contains </a:t>
            </a:r>
            <a:endParaRPr lang="en-US" sz="4200" i="1" dirty="0">
              <a:solidFill>
                <a:srgbClr val="C586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15D5A5-9C53-75E6-B868-BD14BA2F1F59}"/>
              </a:ext>
            </a:extLst>
          </p:cNvPr>
          <p:cNvSpPr txBox="1"/>
          <p:nvPr/>
        </p:nvSpPr>
        <p:spPr>
          <a:xfrm>
            <a:off x="5858170" y="5384283"/>
            <a:ext cx="155532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not(</a:t>
            </a:r>
            <a:endParaRPr lang="en-US" sz="4200" dirty="0">
              <a:solidFill>
                <a:srgbClr val="569CD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5615C9-96A1-A0C3-9B92-045D07166395}"/>
              </a:ext>
            </a:extLst>
          </p:cNvPr>
          <p:cNvSpPr txBox="1"/>
          <p:nvPr/>
        </p:nvSpPr>
        <p:spPr>
          <a:xfrm>
            <a:off x="13534346" y="5384283"/>
            <a:ext cx="66648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)</a:t>
            </a:r>
            <a:endParaRPr lang="en-US" sz="4200" dirty="0">
              <a:solidFill>
                <a:srgbClr val="569CD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FEF789-B641-A127-D612-48FEB77DCE07}"/>
              </a:ext>
            </a:extLst>
          </p:cNvPr>
          <p:cNvSpPr txBox="1"/>
          <p:nvPr/>
        </p:nvSpPr>
        <p:spPr>
          <a:xfrm>
            <a:off x="4666980" y="4739374"/>
            <a:ext cx="12687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and</a:t>
            </a:r>
            <a:endParaRPr lang="en-US" sz="4200" dirty="0">
              <a:solidFill>
                <a:srgbClr val="C586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AC3FA7-3DBD-C454-BB80-FC2EBC25E212}"/>
              </a:ext>
            </a:extLst>
          </p:cNvPr>
          <p:cNvSpPr txBox="1"/>
          <p:nvPr/>
        </p:nvSpPr>
        <p:spPr>
          <a:xfrm>
            <a:off x="4646430" y="5384283"/>
            <a:ext cx="12687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and</a:t>
            </a:r>
            <a:endParaRPr lang="en-US" sz="4200" dirty="0">
              <a:solidFill>
                <a:srgbClr val="C586C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A4601FA-0B1C-EA8B-7418-94A3673908D3}"/>
              </a:ext>
            </a:extLst>
          </p:cNvPr>
          <p:cNvSpPr/>
          <p:nvPr/>
        </p:nvSpPr>
        <p:spPr>
          <a:xfrm>
            <a:off x="1825428" y="4890317"/>
            <a:ext cx="14637144" cy="1278795"/>
          </a:xfrm>
          <a:prstGeom prst="roundRect">
            <a:avLst/>
          </a:prstGeom>
          <a:solidFill>
            <a:schemeClr val="bg1">
              <a:lumMod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6C195F6-C386-5669-1A66-AE15F8A398E5}"/>
              </a:ext>
            </a:extLst>
          </p:cNvPr>
          <p:cNvSpPr/>
          <p:nvPr/>
        </p:nvSpPr>
        <p:spPr>
          <a:xfrm>
            <a:off x="1828973" y="2881741"/>
            <a:ext cx="14637144" cy="1278795"/>
          </a:xfrm>
          <a:prstGeom prst="roundRect">
            <a:avLst/>
          </a:prstGeom>
          <a:solidFill>
            <a:schemeClr val="bg1">
              <a:lumMod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61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0BF1D-E5F4-C810-2337-CC84D7115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A784B9-CAE5-8EF9-B688-5E8E5B24C41B}"/>
              </a:ext>
            </a:extLst>
          </p:cNvPr>
          <p:cNvSpPr/>
          <p:nvPr/>
        </p:nvSpPr>
        <p:spPr>
          <a:xfrm>
            <a:off x="1148316" y="2700670"/>
            <a:ext cx="15608596" cy="4359349"/>
          </a:xfrm>
          <a:prstGeom prst="roundRect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4E09E3DB-7262-6D3C-D2E7-4675BF21B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7F9FF"/>
                </a:solidFill>
                <a:latin typeface="Segoe UI Semibold"/>
              </a:rPr>
              <a:t>Example 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B4CB03-01BB-D4BC-BBAA-C25D0734DFDB}"/>
              </a:ext>
            </a:extLst>
          </p:cNvPr>
          <p:cNvSpPr txBox="1"/>
          <p:nvPr/>
        </p:nvSpPr>
        <p:spPr>
          <a:xfrm>
            <a:off x="2119767" y="3450040"/>
            <a:ext cx="14857136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4200" b="0" dirty="0">
              <a:solidFill>
                <a:srgbClr val="8C8C8C"/>
              </a:solidFill>
              <a:effectLst/>
              <a:latin typeface="Cascadia Code" panose="020B0609020000020004" pitchFamily="34" charset="0"/>
            </a:endParaRPr>
          </a:p>
          <a:p>
            <a:pPr>
              <a:buNone/>
            </a:pP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| </a:t>
            </a:r>
            <a:r>
              <a:rPr lang="en-US" sz="4200" dirty="0">
                <a:solidFill>
                  <a:srgbClr val="C586C0"/>
                </a:solidFill>
                <a:latin typeface="Cascadia Code" panose="020B0609020000020004" pitchFamily="34" charset="0"/>
              </a:rPr>
              <a:t>     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type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chemeClr val="tx1"/>
                </a:solidFill>
                <a:effectLst/>
                <a:latin typeface="Cascadia Code" panose="020B0609020000020004" pitchFamily="34" charset="0"/>
              </a:rPr>
              <a:t>==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 err="1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microsoft.keyvault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/vaults’</a:t>
            </a:r>
          </a:p>
          <a:p>
            <a:pPr>
              <a:buNone/>
            </a:pP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            name</a:t>
            </a:r>
            <a:r>
              <a:rPr lang="en-US" sz="4200" b="0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        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 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 err="1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kv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’</a:t>
            </a:r>
          </a:p>
          <a:p>
            <a:pPr>
              <a:buNone/>
            </a:pP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		    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rgbClr val="DCDCAA"/>
                </a:solidFill>
                <a:effectLst/>
                <a:latin typeface="Cascadia Code" panose="020B0609020000020004" pitchFamily="34" charset="0"/>
              </a:rPr>
              <a:t>     </a:t>
            </a:r>
            <a:r>
              <a:rPr lang="en-US" sz="4200" b="0" dirty="0">
                <a:solidFill>
                  <a:schemeClr val="tx1"/>
                </a:solidFill>
                <a:effectLst/>
                <a:latin typeface="Cascadia Code" panose="020B0609020000020004" pitchFamily="34" charset="0"/>
              </a:rPr>
              <a:t>tags</a:t>
            </a:r>
            <a:r>
              <a:rPr lang="en-US" sz="4200" b="0" dirty="0">
                <a:solidFill>
                  <a:srgbClr val="6A9955"/>
                </a:solidFill>
                <a:effectLst/>
                <a:latin typeface="Cascadia Code" panose="020B0609020000020004" pitchFamily="34" charset="0"/>
              </a:rPr>
              <a:t>[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env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’</a:t>
            </a:r>
            <a:r>
              <a:rPr lang="en-US" sz="4200" b="0" dirty="0">
                <a:solidFill>
                  <a:srgbClr val="6A9955"/>
                </a:solidFill>
                <a:effectLst/>
                <a:latin typeface="Cascadia Code" panose="020B0609020000020004" pitchFamily="34" charset="0"/>
              </a:rPr>
              <a:t>]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b="0" dirty="0">
                <a:solidFill>
                  <a:schemeClr val="tx1"/>
                </a:solidFill>
                <a:effectLst/>
                <a:latin typeface="Cascadia Code" panose="020B0609020000020004" pitchFamily="34" charset="0"/>
              </a:rPr>
              <a:t>==</a:t>
            </a:r>
            <a:r>
              <a:rPr lang="en-US" sz="4200" b="0" dirty="0">
                <a:solidFill>
                  <a:srgbClr val="8C8C8C"/>
                </a:solidFill>
                <a:effectLst/>
                <a:latin typeface="Cascadia Code" panose="020B0609020000020004" pitchFamily="34" charset="0"/>
              </a:rPr>
              <a:t> </a:t>
            </a:r>
            <a:r>
              <a:rPr lang="en-US" sz="4200" dirty="0">
                <a:solidFill>
                  <a:srgbClr val="CE9178"/>
                </a:solidFill>
                <a:latin typeface="Cascadia Code" panose="020B0609020000020004" pitchFamily="34" charset="0"/>
              </a:rPr>
              <a:t>‘</a:t>
            </a:r>
            <a:r>
              <a:rPr lang="en-US" sz="4200" b="0" dirty="0">
                <a:solidFill>
                  <a:srgbClr val="CE9178"/>
                </a:solidFill>
                <a:effectLst/>
                <a:latin typeface="Cascadia Code" panose="020B0609020000020004" pitchFamily="34" charset="0"/>
              </a:rPr>
              <a:t>prod’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CD9330-DD98-7095-2124-7FDDF8A02901}"/>
              </a:ext>
            </a:extLst>
          </p:cNvPr>
          <p:cNvSpPr txBox="1"/>
          <p:nvPr/>
        </p:nvSpPr>
        <p:spPr>
          <a:xfrm>
            <a:off x="2119768" y="3450040"/>
            <a:ext cx="310534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Resources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CA74F-B782-EB23-627E-FDD7F844A170}"/>
              </a:ext>
            </a:extLst>
          </p:cNvPr>
          <p:cNvSpPr txBox="1"/>
          <p:nvPr/>
        </p:nvSpPr>
        <p:spPr>
          <a:xfrm>
            <a:off x="2736075" y="4105488"/>
            <a:ext cx="194897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i="1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where</a:t>
            </a:r>
            <a:endParaRPr lang="en-US" sz="4200" i="1" dirty="0">
              <a:solidFill>
                <a:srgbClr val="C586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5C3FC9-CC35-A219-53C9-8BCD7EC0675B}"/>
              </a:ext>
            </a:extLst>
          </p:cNvPr>
          <p:cNvSpPr txBox="1"/>
          <p:nvPr/>
        </p:nvSpPr>
        <p:spPr>
          <a:xfrm>
            <a:off x="7444600" y="4743970"/>
            <a:ext cx="292053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i="1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contains </a:t>
            </a:r>
            <a:endParaRPr lang="en-US" sz="4200" i="1" dirty="0">
              <a:solidFill>
                <a:srgbClr val="C586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926FE-C351-FDDB-9921-31A2D206C68C}"/>
              </a:ext>
            </a:extLst>
          </p:cNvPr>
          <p:cNvSpPr txBox="1"/>
          <p:nvPr/>
        </p:nvSpPr>
        <p:spPr>
          <a:xfrm>
            <a:off x="5858170" y="5384283"/>
            <a:ext cx="155532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not(</a:t>
            </a:r>
            <a:endParaRPr lang="en-US" sz="4200" dirty="0">
              <a:solidFill>
                <a:srgbClr val="569CD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E11991-F148-6DB8-7255-91ED1479F2B4}"/>
              </a:ext>
            </a:extLst>
          </p:cNvPr>
          <p:cNvSpPr txBox="1"/>
          <p:nvPr/>
        </p:nvSpPr>
        <p:spPr>
          <a:xfrm>
            <a:off x="13534346" y="5384283"/>
            <a:ext cx="66648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569CD6"/>
                </a:solidFill>
                <a:effectLst/>
                <a:latin typeface="Cascadia Code" panose="020B0609020000020004" pitchFamily="34" charset="0"/>
              </a:rPr>
              <a:t>)</a:t>
            </a:r>
            <a:endParaRPr lang="en-US" sz="4200" dirty="0">
              <a:solidFill>
                <a:srgbClr val="569CD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0CDE26-844A-4D5E-84D9-D40FF1D7C271}"/>
              </a:ext>
            </a:extLst>
          </p:cNvPr>
          <p:cNvSpPr txBox="1"/>
          <p:nvPr/>
        </p:nvSpPr>
        <p:spPr>
          <a:xfrm>
            <a:off x="4666980" y="4739374"/>
            <a:ext cx="12687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and</a:t>
            </a:r>
            <a:endParaRPr lang="en-US" sz="4200" dirty="0">
              <a:solidFill>
                <a:srgbClr val="C586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96449D-4F1F-7EC6-7BE7-37F6445CA68B}"/>
              </a:ext>
            </a:extLst>
          </p:cNvPr>
          <p:cNvSpPr txBox="1"/>
          <p:nvPr/>
        </p:nvSpPr>
        <p:spPr>
          <a:xfrm>
            <a:off x="4646430" y="5384283"/>
            <a:ext cx="12687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0" dirty="0">
                <a:solidFill>
                  <a:srgbClr val="C586C0"/>
                </a:solidFill>
                <a:effectLst/>
                <a:latin typeface="Cascadia Code" panose="020B0609020000020004" pitchFamily="34" charset="0"/>
              </a:rPr>
              <a:t>and</a:t>
            </a:r>
            <a:endParaRPr lang="en-US" sz="4200" dirty="0">
              <a:solidFill>
                <a:srgbClr val="C586C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BAC7EAC-7CA4-A7BB-6FE9-DA3896A4F5B0}"/>
              </a:ext>
            </a:extLst>
          </p:cNvPr>
          <p:cNvSpPr/>
          <p:nvPr/>
        </p:nvSpPr>
        <p:spPr>
          <a:xfrm>
            <a:off x="1825428" y="6185059"/>
            <a:ext cx="14637144" cy="360066"/>
          </a:xfrm>
          <a:prstGeom prst="roundRect">
            <a:avLst/>
          </a:prstGeom>
          <a:solidFill>
            <a:schemeClr val="bg1">
              <a:lumMod val="10000"/>
              <a:alpha val="798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7FB71F2-B05E-896B-59E7-4B0CD0259CF9}"/>
              </a:ext>
            </a:extLst>
          </p:cNvPr>
          <p:cNvSpPr/>
          <p:nvPr/>
        </p:nvSpPr>
        <p:spPr>
          <a:xfrm>
            <a:off x="1828973" y="2881741"/>
            <a:ext cx="14637144" cy="1987648"/>
          </a:xfrm>
          <a:prstGeom prst="roundRect">
            <a:avLst/>
          </a:prstGeom>
          <a:solidFill>
            <a:schemeClr val="bg1">
              <a:lumMod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398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Titl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Querying ARG – Setting sail!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FE75E-61BA-DA8C-74D1-D03A12AEA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F89DE-6F4E-950A-F393-5F7274F3C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>
                <a:solidFill>
                  <a:srgbClr val="F7F9FF"/>
                </a:solidFill>
                <a:latin typeface="Segoe UI Semibold"/>
              </a:rPr>
              <a:t>Unsupported</a:t>
            </a:r>
            <a:r>
              <a:rPr lang="sv-SE" dirty="0">
                <a:solidFill>
                  <a:srgbClr val="F7F9FF"/>
                </a:solidFill>
                <a:latin typeface="Segoe UI Semibold"/>
              </a:rPr>
              <a:t> KQL Syntax in ARG</a:t>
            </a:r>
            <a:endParaRPr dirty="0">
              <a:solidFill>
                <a:srgbClr val="F7F9FF"/>
              </a:solidFill>
              <a:latin typeface="Segoe UI Semibold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04EAD-AD0F-434D-D1F6-97C86266EB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1300" y="2220913"/>
            <a:ext cx="18643048" cy="674211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let</a:t>
            </a:r>
            <a:r>
              <a:rPr lang="en-US" sz="4400" dirty="0">
                <a:solidFill>
                  <a:srgbClr val="E3E8F2"/>
                </a:solidFill>
                <a:latin typeface="Segoe UI"/>
              </a:rPr>
              <a:t> - No variables or temporary tables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E3E8F2"/>
                </a:solidFill>
                <a:latin typeface="Segoe UI"/>
              </a:rPr>
              <a:t>No data sources, only resource tables allowed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E3E8F2"/>
                </a:solidFill>
                <a:latin typeface="Segoe UI"/>
              </a:rPr>
              <a:t>No complex math, graphs, data things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E3E8F2"/>
                </a:solidFill>
                <a:latin typeface="Segoe UI"/>
              </a:rPr>
              <a:t>A bunch of other unsupported things too</a:t>
            </a:r>
          </a:p>
          <a:p>
            <a:pPr marL="0" indent="0"/>
            <a:endParaRPr lang="en-US" sz="4400" dirty="0">
              <a:solidFill>
                <a:srgbClr val="E3E8F2"/>
              </a:solidFill>
              <a:latin typeface="Segoe UI"/>
            </a:endParaRPr>
          </a:p>
          <a:p>
            <a:pPr marL="0" indent="0"/>
            <a:endParaRPr lang="en-US" sz="4400" dirty="0">
              <a:solidFill>
                <a:srgbClr val="E3E8F2"/>
              </a:solidFill>
              <a:latin typeface="Segoe UI"/>
            </a:endParaRPr>
          </a:p>
          <a:p>
            <a:pPr marL="0" indent="0"/>
            <a:endParaRPr lang="en-US" sz="4400" dirty="0">
              <a:solidFill>
                <a:srgbClr val="E3E8F2"/>
              </a:solidFill>
              <a:latin typeface="Segoe UI"/>
            </a:endParaRPr>
          </a:p>
          <a:p>
            <a:pPr marL="0" indent="0"/>
            <a:endParaRPr lang="en-US" sz="4400" dirty="0">
              <a:solidFill>
                <a:srgbClr val="E3E8F2"/>
              </a:solidFill>
              <a:latin typeface="Segoe UI"/>
            </a:endParaRPr>
          </a:p>
          <a:p>
            <a:pPr marL="0" indent="0"/>
            <a:r>
              <a:rPr lang="en-US" sz="5400" dirty="0">
                <a:solidFill>
                  <a:srgbClr val="FFC000"/>
                </a:solidFill>
                <a:latin typeface="Segoe UI"/>
              </a:rPr>
              <a:t>There’s unfortunately no list of exactly what is supported :(</a:t>
            </a:r>
            <a:endParaRPr lang="en-US" sz="4400" dirty="0">
              <a:solidFill>
                <a:srgbClr val="FFC000"/>
              </a:solidFill>
              <a:latin typeface="Segoe U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E3E8F2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72810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9" dur="indefinite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5" grpId="1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7F9FF"/>
                </a:solidFill>
                <a:latin typeface="Segoe UI Semibold"/>
              </a:rPr>
              <a:t>Sharing 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468FA-01F5-13F7-232E-4B32C6B76334}"/>
              </a:ext>
            </a:extLst>
          </p:cNvPr>
          <p:cNvSpPr txBox="1"/>
          <p:nvPr/>
        </p:nvSpPr>
        <p:spPr>
          <a:xfrm>
            <a:off x="2391386" y="8663788"/>
            <a:ext cx="13502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Microsoft.OperationalInsights</a:t>
            </a:r>
            <a:r>
              <a:rPr lang="en-US" sz="24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/</a:t>
            </a:r>
            <a:r>
              <a:rPr lang="en-US" sz="2400" dirty="0" err="1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queryPacks</a:t>
            </a:r>
            <a:r>
              <a:rPr lang="en-US" sz="24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/queries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1F0E49-803D-FF1D-7248-72AE54830FEB}"/>
              </a:ext>
            </a:extLst>
          </p:cNvPr>
          <p:cNvGrpSpPr/>
          <p:nvPr/>
        </p:nvGrpSpPr>
        <p:grpSpPr>
          <a:xfrm>
            <a:off x="1657803" y="2733512"/>
            <a:ext cx="3828477" cy="4045378"/>
            <a:chOff x="1171679" y="1863610"/>
            <a:chExt cx="1688565" cy="1823004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B70D04A-6D2D-05C8-F60E-77946724C2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08296" y="1863610"/>
              <a:ext cx="1451948" cy="145194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9A407A-F0AE-419D-DC5F-E520C04F6380}"/>
                </a:ext>
              </a:extLst>
            </p:cNvPr>
            <p:cNvSpPr txBox="1"/>
            <p:nvPr/>
          </p:nvSpPr>
          <p:spPr>
            <a:xfrm>
              <a:off x="1171679" y="2958460"/>
              <a:ext cx="1235756" cy="728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400" dirty="0">
                  <a:solidFill>
                    <a:schemeClr val="tx1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Resource Graph</a:t>
              </a:r>
              <a:br>
                <a:rPr lang="en-US" sz="2400" dirty="0">
                  <a:solidFill>
                    <a:schemeClr val="tx1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Queries</a:t>
              </a:r>
              <a:br>
                <a:rPr lang="en-US" sz="2400" dirty="0">
                  <a:solidFill>
                    <a:schemeClr val="tx1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</a:br>
              <a:br>
                <a:rPr lang="en-US" sz="2400" dirty="0">
                  <a:solidFill>
                    <a:schemeClr val="tx1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</a:br>
              <a:endParaRPr lang="en-US" sz="2400" dirty="0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98FB22C-A881-CF0C-1CCC-22CC9F7A0F17}"/>
              </a:ext>
            </a:extLst>
          </p:cNvPr>
          <p:cNvSpPr txBox="1"/>
          <p:nvPr/>
        </p:nvSpPr>
        <p:spPr>
          <a:xfrm>
            <a:off x="4710672" y="8148609"/>
            <a:ext cx="8868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Microsoft.ResourceGraph</a:t>
            </a:r>
            <a:r>
              <a:rPr lang="en-US" sz="24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/queries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292FD33-FD18-F43C-1197-D2C690AA66E2}"/>
              </a:ext>
            </a:extLst>
          </p:cNvPr>
          <p:cNvGrpSpPr/>
          <p:nvPr/>
        </p:nvGrpSpPr>
        <p:grpSpPr>
          <a:xfrm>
            <a:off x="7741938" y="2533944"/>
            <a:ext cx="2801728" cy="3049604"/>
            <a:chOff x="3954143" y="1808306"/>
            <a:chExt cx="1235714" cy="1374270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589F292-0761-C6DA-AD60-6CF2750500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95936" y="1808306"/>
              <a:ext cx="1152128" cy="115212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003453-41EA-42CA-FDE5-ECC7A40B0D34}"/>
                </a:ext>
              </a:extLst>
            </p:cNvPr>
            <p:cNvSpPr txBox="1"/>
            <p:nvPr/>
          </p:nvSpPr>
          <p:spPr>
            <a:xfrm>
              <a:off x="3954143" y="2953728"/>
              <a:ext cx="1235714" cy="228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Git Repository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06E7C54-3AA0-61DC-C093-D97D37B6A1A7}"/>
              </a:ext>
            </a:extLst>
          </p:cNvPr>
          <p:cNvGrpSpPr/>
          <p:nvPr/>
        </p:nvGrpSpPr>
        <p:grpSpPr>
          <a:xfrm>
            <a:off x="13154834" y="2198271"/>
            <a:ext cx="2830244" cy="3647206"/>
            <a:chOff x="6612151" y="1705438"/>
            <a:chExt cx="1248290" cy="1643573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018E3B83-AF77-B765-FE3F-5EDEC71588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12151" y="1705438"/>
              <a:ext cx="1248290" cy="124829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C4AA400-1496-06AB-A911-FC4969995B04}"/>
                </a:ext>
              </a:extLst>
            </p:cNvPr>
            <p:cNvSpPr txBox="1"/>
            <p:nvPr/>
          </p:nvSpPr>
          <p:spPr>
            <a:xfrm>
              <a:off x="6658209" y="2953728"/>
              <a:ext cx="1156175" cy="39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Log Analytics</a:t>
              </a:r>
              <a:br>
                <a:rPr lang="en-US" sz="2400" dirty="0">
                  <a:solidFill>
                    <a:schemeClr val="tx1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Query Packs *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D5B369D-5C85-40EB-9271-C78C068679CC}"/>
              </a:ext>
            </a:extLst>
          </p:cNvPr>
          <p:cNvSpPr txBox="1"/>
          <p:nvPr/>
        </p:nvSpPr>
        <p:spPr>
          <a:xfrm>
            <a:off x="7570524" y="7647574"/>
            <a:ext cx="3144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.KQL files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071D5C-F724-425A-009A-E45D71D07B46}"/>
              </a:ext>
            </a:extLst>
          </p:cNvPr>
          <p:cNvSpPr txBox="1"/>
          <p:nvPr/>
        </p:nvSpPr>
        <p:spPr>
          <a:xfrm>
            <a:off x="16389220" y="0"/>
            <a:ext cx="18987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*</a:t>
            </a:r>
            <a:r>
              <a:rPr lang="en-US" sz="4800" dirty="0" err="1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ish</a:t>
            </a:r>
            <a:endParaRPr lang="en-US" sz="4800" dirty="0">
              <a:solidFill>
                <a:srgbClr val="FFC000"/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CBFAE3-3978-9ACD-A98D-F3590CA45896}"/>
              </a:ext>
            </a:extLst>
          </p:cNvPr>
          <p:cNvGrpSpPr/>
          <p:nvPr/>
        </p:nvGrpSpPr>
        <p:grpSpPr>
          <a:xfrm>
            <a:off x="3709755" y="5961108"/>
            <a:ext cx="2413402" cy="2587053"/>
            <a:chOff x="2025326" y="3469392"/>
            <a:chExt cx="908469" cy="93863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6CB2B66-E870-CA32-B156-B1BB4221DE9D}"/>
                    </a:ext>
                  </a:extLst>
                </p14:cNvPr>
                <p14:cNvContentPartPr/>
                <p14:nvPr/>
              </p14:nvContentPartPr>
              <p14:xfrm rot="21010720">
                <a:off x="2025326" y="3469392"/>
                <a:ext cx="808294" cy="938631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6CB2B66-E870-CA32-B156-B1BB4221DE9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 rot="21010720">
                  <a:off x="2018551" y="3462861"/>
                  <a:ext cx="821709" cy="9515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64E7730-CE2E-57BF-48C1-F3E8598C753D}"/>
                    </a:ext>
                  </a:extLst>
                </p14:cNvPr>
                <p14:cNvContentPartPr/>
                <p14:nvPr/>
              </p14:nvContentPartPr>
              <p14:xfrm>
                <a:off x="2686115" y="4182337"/>
                <a:ext cx="247680" cy="163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64E7730-CE2E-57BF-48C1-F3E8598C753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79337" y="4175805"/>
                  <a:ext cx="261101" cy="17637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8999AA0-22B7-68E7-B195-0CC584967B7F}"/>
              </a:ext>
            </a:extLst>
          </p:cNvPr>
          <p:cNvGrpSpPr/>
          <p:nvPr/>
        </p:nvGrpSpPr>
        <p:grpSpPr>
          <a:xfrm>
            <a:off x="13621966" y="6115764"/>
            <a:ext cx="772786" cy="2574390"/>
            <a:chOff x="7107123" y="3450270"/>
            <a:chExt cx="340841" cy="116012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C0FF42D-0DB0-8E1A-8945-49290C8967DB}"/>
                    </a:ext>
                  </a:extLst>
                </p14:cNvPr>
                <p14:cNvContentPartPr/>
                <p14:nvPr/>
              </p14:nvContentPartPr>
              <p14:xfrm>
                <a:off x="7138082" y="3450270"/>
                <a:ext cx="309882" cy="1111881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C0FF42D-0DB0-8E1A-8945-49290C8967D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26163" y="3438102"/>
                  <a:ext cx="333481" cy="11359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1103CBC-9436-74C9-49BF-D00168B47B67}"/>
                    </a:ext>
                  </a:extLst>
                </p14:cNvPr>
                <p14:cNvContentPartPr/>
                <p14:nvPr/>
              </p14:nvContentPartPr>
              <p14:xfrm>
                <a:off x="7107123" y="4418871"/>
                <a:ext cx="195840" cy="191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9096A37-6359-08EA-17B6-8343312B151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89123" y="4401231"/>
                  <a:ext cx="23148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42672D3-17DA-3699-E5B7-65E38BEF6389}"/>
              </a:ext>
            </a:extLst>
          </p:cNvPr>
          <p:cNvGrpSpPr/>
          <p:nvPr/>
        </p:nvGrpSpPr>
        <p:grpSpPr>
          <a:xfrm>
            <a:off x="8945932" y="5875719"/>
            <a:ext cx="475044" cy="1366542"/>
            <a:chOff x="4595469" y="3357000"/>
            <a:chExt cx="209520" cy="61581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2AAD4EC-81D9-AE2C-EC18-DB307E0599CC}"/>
                    </a:ext>
                  </a:extLst>
                </p14:cNvPr>
                <p14:cNvContentPartPr/>
                <p14:nvPr/>
              </p14:nvContentPartPr>
              <p14:xfrm>
                <a:off x="4675680" y="3357000"/>
                <a:ext cx="2160" cy="579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2AAD4EC-81D9-AE2C-EC18-DB307E0599C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63680" y="3344831"/>
                  <a:ext cx="25920" cy="603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2B0E16B-27FC-BC6F-ECC1-2FC35EC265BD}"/>
                    </a:ext>
                  </a:extLst>
                </p14:cNvPr>
                <p14:cNvContentPartPr/>
                <p14:nvPr/>
              </p14:nvContentPartPr>
              <p14:xfrm>
                <a:off x="4595469" y="3834938"/>
                <a:ext cx="209520" cy="137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2B0E16B-27FC-BC6F-ECC1-2FC35EC265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583551" y="3822758"/>
                  <a:ext cx="233118" cy="16199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A989D59-607C-6AFE-1403-69C56BE10C3D}"/>
              </a:ext>
            </a:extLst>
          </p:cNvPr>
          <p:cNvGrpSpPr/>
          <p:nvPr/>
        </p:nvGrpSpPr>
        <p:grpSpPr>
          <a:xfrm>
            <a:off x="9665866" y="5001330"/>
            <a:ext cx="3445932" cy="3606324"/>
            <a:chOff x="5096631" y="3008619"/>
            <a:chExt cx="1519842" cy="162515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FA9CB71-9465-2DF8-F5B4-BE3B3AB3E669}"/>
                    </a:ext>
                  </a:extLst>
                </p14:cNvPr>
                <p14:cNvContentPartPr/>
                <p14:nvPr/>
              </p14:nvContentPartPr>
              <p14:xfrm rot="926643">
                <a:off x="5096631" y="3008619"/>
                <a:ext cx="1519842" cy="1403406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FA9CB71-9465-2DF8-F5B4-BE3B3AB3E66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 rot="926643">
                  <a:off x="5088693" y="3000508"/>
                  <a:ext cx="1535560" cy="14194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A1930AF-9112-C20B-9D2E-9C271588AC36}"/>
                    </a:ext>
                  </a:extLst>
                </p14:cNvPr>
                <p14:cNvContentPartPr/>
                <p14:nvPr/>
              </p14:nvContentPartPr>
              <p14:xfrm rot="531316">
                <a:off x="6291751" y="4426240"/>
                <a:ext cx="231725" cy="207529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A1930AF-9112-C20B-9D2E-9C271588AC3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 rot="531316">
                  <a:off x="6283810" y="4418127"/>
                  <a:ext cx="247449" cy="223593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30" name="Picture 2" descr="Bicep for Visual Studio">
              <a:extLst>
                <a:ext uri="{FF2B5EF4-FFF2-40B4-BE49-F238E27FC236}">
                  <a16:creationId xmlns:a16="http://schemas.microsoft.com/office/drawing/2014/main" id="{59A70351-551F-A8E7-6009-CB33860807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2477" y="3330823"/>
              <a:ext cx="338554" cy="338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F33672F-AA1E-51FB-31F1-E7593F7A78AB}"/>
              </a:ext>
            </a:extLst>
          </p:cNvPr>
          <p:cNvGrpSpPr/>
          <p:nvPr/>
        </p:nvGrpSpPr>
        <p:grpSpPr>
          <a:xfrm>
            <a:off x="9827748" y="5849126"/>
            <a:ext cx="1151696" cy="2111403"/>
            <a:chOff x="4942403" y="3359910"/>
            <a:chExt cx="507960" cy="95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3390507-BC1A-5469-6551-C31777BD881F}"/>
                    </a:ext>
                  </a:extLst>
                </p14:cNvPr>
                <p14:cNvContentPartPr/>
                <p14:nvPr/>
              </p14:nvContentPartPr>
              <p14:xfrm>
                <a:off x="4942403" y="3359910"/>
                <a:ext cx="435960" cy="909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3390507-BC1A-5469-6551-C31777BD881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34462" y="3351798"/>
                  <a:ext cx="451683" cy="925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94FFF33-40CD-B119-4BD2-EEBBE760B57B}"/>
                    </a:ext>
                  </a:extLst>
                </p14:cNvPr>
                <p14:cNvContentPartPr/>
                <p14:nvPr/>
              </p14:nvContentPartPr>
              <p14:xfrm>
                <a:off x="5276483" y="4148670"/>
                <a:ext cx="173880" cy="162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94FFF33-40CD-B119-4BD2-EEBBE760B57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68543" y="4140558"/>
                  <a:ext cx="189601" cy="178781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34" name="Picture 2" descr="Bicep for Visual Studio">
              <a:extLst>
                <a:ext uri="{FF2B5EF4-FFF2-40B4-BE49-F238E27FC236}">
                  <a16:creationId xmlns:a16="http://schemas.microsoft.com/office/drawing/2014/main" id="{1F38DD4C-36ED-5394-F29C-0C7D77F790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7595" y="3617935"/>
              <a:ext cx="338554" cy="338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6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7F9FF"/>
                </a:solidFill>
                <a:latin typeface="Segoe UI Semibold"/>
              </a:rPr>
              <a:t>Tips &amp; Tricks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>
          <a:xfrm>
            <a:off x="241299" y="2220913"/>
            <a:ext cx="18514534" cy="674211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E3E8F2"/>
                </a:solidFill>
                <a:latin typeface="Segoe UI"/>
              </a:rPr>
              <a:t>The </a:t>
            </a:r>
            <a:r>
              <a:rPr lang="en-US" sz="48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Resources</a:t>
            </a:r>
            <a:r>
              <a:rPr lang="en-US" sz="4800" dirty="0">
                <a:solidFill>
                  <a:srgbClr val="E3E8F2"/>
                </a:solidFill>
                <a:latin typeface="Segoe UI"/>
              </a:rPr>
              <a:t> table is the default, no need to specify it</a:t>
            </a:r>
            <a:endParaRPr sz="4800" dirty="0">
              <a:solidFill>
                <a:srgbClr val="E3E8F2"/>
              </a:solidFill>
              <a:latin typeface="Segoe U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E3E8F2"/>
                </a:solidFill>
                <a:latin typeface="Segoe UI"/>
              </a:rPr>
              <a:t>Hidden </a:t>
            </a:r>
            <a:r>
              <a:rPr lang="en-US" sz="4800" dirty="0" err="1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SystemData</a:t>
            </a:r>
            <a:r>
              <a:rPr lang="en-US" sz="4800" dirty="0">
                <a:solidFill>
                  <a:srgbClr val="E3E8F2"/>
                </a:solidFill>
                <a:latin typeface="Segoe UI"/>
              </a:rPr>
              <a:t> property for resource metadata</a:t>
            </a:r>
            <a:endParaRPr sz="4800" dirty="0">
              <a:solidFill>
                <a:srgbClr val="E3E8F2"/>
              </a:solidFill>
              <a:latin typeface="Segoe UI"/>
            </a:endParaRPr>
          </a:p>
          <a:p>
            <a:pPr lvl="1"/>
            <a:r>
              <a:rPr lang="en-US" sz="4400" dirty="0">
                <a:solidFill>
                  <a:srgbClr val="E3E8F2"/>
                </a:solidFill>
                <a:latin typeface="Segoe UI"/>
              </a:rPr>
              <a:t>If supported by the resource – Check API version</a:t>
            </a:r>
            <a:endParaRPr sz="4400" dirty="0">
              <a:solidFill>
                <a:srgbClr val="E3E8F2"/>
              </a:solidFill>
              <a:latin typeface="Segoe U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E3E8F2"/>
                </a:solidFill>
                <a:latin typeface="Segoe UI"/>
              </a:rPr>
              <a:t>Shared queries can be used inside queries with </a:t>
            </a:r>
            <a:r>
              <a:rPr lang="en-US" sz="4800" b="1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{{ }}</a:t>
            </a:r>
            <a:r>
              <a:rPr lang="en-US" sz="4800" dirty="0">
                <a:solidFill>
                  <a:srgbClr val="E3E8F2"/>
                </a:solidFill>
                <a:latin typeface="Segoe UI"/>
              </a:rPr>
              <a:t> syntax</a:t>
            </a:r>
            <a:endParaRPr sz="4800" dirty="0">
              <a:solidFill>
                <a:srgbClr val="E3E8F2"/>
              </a:solidFill>
              <a:latin typeface="Segoe U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E3E8F2"/>
                </a:solidFill>
                <a:latin typeface="Segoe UI"/>
              </a:rPr>
              <a:t>You can use ARG from Log Analytics with </a:t>
            </a:r>
            <a:r>
              <a:rPr lang="en-US" sz="4800" dirty="0" err="1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arg</a:t>
            </a:r>
            <a:r>
              <a:rPr lang="en-US" sz="48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(“”).Resources</a:t>
            </a:r>
          </a:p>
          <a:p>
            <a:pPr lvl="1"/>
            <a:r>
              <a:rPr lang="en-US" sz="4400" dirty="0">
                <a:solidFill>
                  <a:srgbClr val="E3E8F2"/>
                </a:solidFill>
                <a:latin typeface="Segoe UI"/>
              </a:rPr>
              <a:t>But not yet* with </a:t>
            </a:r>
            <a:r>
              <a:rPr lang="en-US" sz="4400" dirty="0" err="1">
                <a:solidFill>
                  <a:srgbClr val="E3E8F2"/>
                </a:solidFill>
                <a:latin typeface="Segoe UI"/>
              </a:rPr>
              <a:t>bARGE</a:t>
            </a:r>
            <a:endParaRPr lang="en-US" sz="4400" dirty="0">
              <a:solidFill>
                <a:srgbClr val="E3E8F2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6" dur="indefinite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9" dur="indefinit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5" grpId="1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7F9FF"/>
                </a:solidFill>
                <a:latin typeface="Segoe UI Semibold"/>
              </a:rPr>
              <a:t>Alerts with Azure Resource Graph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>
          <a:xfrm>
            <a:off x="241300" y="2220913"/>
            <a:ext cx="16655222" cy="6742112"/>
          </a:xfrm>
        </p:spPr>
        <p:txBody>
          <a:bodyPr>
            <a:no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E3E8F2"/>
                </a:solidFill>
                <a:latin typeface="Segoe UI"/>
              </a:rPr>
              <a:t>Don’t forget Azure Policy</a:t>
            </a:r>
            <a:endParaRPr sz="4800" dirty="0">
              <a:solidFill>
                <a:srgbClr val="E3E8F2"/>
              </a:solidFill>
              <a:latin typeface="Segoe UI"/>
            </a:endParaRPr>
          </a:p>
          <a:p>
            <a:pPr lvl="1"/>
            <a:r>
              <a:rPr lang="en-US" sz="4400" dirty="0">
                <a:solidFill>
                  <a:srgbClr val="E3E8F2"/>
                </a:solidFill>
                <a:latin typeface="Segoe UI"/>
              </a:rPr>
              <a:t>Alerts are </a:t>
            </a:r>
            <a:r>
              <a:rPr lang="en-US" sz="4400" b="1" dirty="0">
                <a:solidFill>
                  <a:srgbClr val="F7F9FF"/>
                </a:solidFill>
                <a:latin typeface="Segoe UI"/>
              </a:rPr>
              <a:t>reactive</a:t>
            </a:r>
            <a:endParaRPr sz="4400" dirty="0">
              <a:solidFill>
                <a:srgbClr val="E3E8F2"/>
              </a:solidFill>
              <a:latin typeface="Segoe UI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E3E8F2"/>
                </a:solidFill>
                <a:latin typeface="Segoe UI"/>
              </a:rPr>
              <a:t>Examples of potentially interesting ARG alerts</a:t>
            </a:r>
            <a:endParaRPr sz="4800" dirty="0">
              <a:solidFill>
                <a:srgbClr val="E3E8F2"/>
              </a:solidFill>
              <a:latin typeface="Segoe UI"/>
            </a:endParaRPr>
          </a:p>
          <a:p>
            <a:pPr lvl="1"/>
            <a:r>
              <a:rPr lang="en-US" sz="4400" dirty="0">
                <a:solidFill>
                  <a:srgbClr val="E3E8F2"/>
                </a:solidFill>
                <a:latin typeface="Segoe UI"/>
              </a:rPr>
              <a:t>FinOps – Someone creates </a:t>
            </a:r>
            <a:r>
              <a:rPr lang="en-US" sz="4400" b="1" dirty="0">
                <a:solidFill>
                  <a:srgbClr val="F7F9FF"/>
                </a:solidFill>
                <a:latin typeface="Segoe UI"/>
              </a:rPr>
              <a:t>allowed</a:t>
            </a:r>
            <a:r>
              <a:rPr lang="en-US" sz="4400" dirty="0">
                <a:solidFill>
                  <a:srgbClr val="E3E8F2"/>
                </a:solidFill>
                <a:latin typeface="Segoe UI"/>
              </a:rPr>
              <a:t>, but high-cost resources</a:t>
            </a:r>
            <a:endParaRPr sz="4400" dirty="0">
              <a:solidFill>
                <a:srgbClr val="E3E8F2"/>
              </a:solidFill>
              <a:latin typeface="Segoe UI"/>
            </a:endParaRPr>
          </a:p>
          <a:p>
            <a:pPr lvl="1"/>
            <a:r>
              <a:rPr lang="en-US" sz="4400" dirty="0">
                <a:solidFill>
                  <a:srgbClr val="E3E8F2"/>
                </a:solidFill>
                <a:latin typeface="Segoe UI"/>
              </a:rPr>
              <a:t>Operational – </a:t>
            </a:r>
            <a:r>
              <a:rPr lang="en-US" sz="4400" b="1" dirty="0" err="1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ResourceChanges</a:t>
            </a:r>
            <a:r>
              <a:rPr lang="en-US" sz="4400" dirty="0">
                <a:solidFill>
                  <a:srgbClr val="E3E8F2"/>
                </a:solidFill>
                <a:latin typeface="Segoe UI"/>
              </a:rPr>
              <a:t> in sensitive scopes</a:t>
            </a:r>
            <a:endParaRPr sz="4400" dirty="0">
              <a:solidFill>
                <a:srgbClr val="E3E8F2"/>
              </a:solidFill>
              <a:latin typeface="Segoe UI"/>
            </a:endParaRPr>
          </a:p>
          <a:p>
            <a:pPr lvl="1"/>
            <a:r>
              <a:rPr lang="en-US" sz="4400" dirty="0">
                <a:solidFill>
                  <a:srgbClr val="E3E8F2"/>
                </a:solidFill>
                <a:latin typeface="Segoe UI"/>
              </a:rPr>
              <a:t>Security – Resource-related events, permissions and roles</a:t>
            </a:r>
            <a:endParaRPr sz="4400" dirty="0">
              <a:solidFill>
                <a:srgbClr val="E3E8F2"/>
              </a:solidFill>
              <a:latin typeface="Segoe UI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E3E8F2"/>
                </a:solidFill>
                <a:latin typeface="Segoe UI"/>
              </a:rPr>
              <a:t>Alerts need access permissions for ARG</a:t>
            </a:r>
            <a:endParaRPr sz="4800" dirty="0">
              <a:solidFill>
                <a:srgbClr val="E3E8F2"/>
              </a:solidFill>
              <a:latin typeface="Segoe UI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E3E8F2"/>
                </a:solidFill>
                <a:latin typeface="Segoe UI"/>
              </a:rPr>
              <a:t>Limitations</a:t>
            </a:r>
            <a:endParaRPr sz="4800" dirty="0">
              <a:solidFill>
                <a:srgbClr val="E3E8F2"/>
              </a:solidFill>
              <a:latin typeface="Segoe UI"/>
            </a:endParaRPr>
          </a:p>
          <a:p>
            <a:pPr lvl="1"/>
            <a:r>
              <a:rPr lang="en-US" sz="4400" dirty="0">
                <a:solidFill>
                  <a:srgbClr val="E3E8F2"/>
                </a:solidFill>
                <a:latin typeface="Segoe UI"/>
              </a:rPr>
              <a:t>Cannot </a:t>
            </a:r>
            <a:r>
              <a:rPr lang="en-US" sz="4400" b="1" dirty="0">
                <a:solidFill>
                  <a:srgbClr val="F7F9FF"/>
                </a:solidFill>
                <a:latin typeface="Segoe UI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join</a:t>
            </a:r>
            <a:r>
              <a:rPr lang="en-US" sz="4400" dirty="0">
                <a:solidFill>
                  <a:srgbClr val="E3E8F2"/>
                </a:solidFill>
                <a:latin typeface="Segoe UI"/>
              </a:rPr>
              <a:t> multiple ARG tables, </a:t>
            </a:r>
            <a:r>
              <a:rPr lang="en-US" sz="4400" b="1" dirty="0">
                <a:solidFill>
                  <a:srgbClr val="F7F9FF"/>
                </a:solidFill>
                <a:latin typeface="Segoe UI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union</a:t>
            </a:r>
            <a:r>
              <a:rPr lang="en-US" sz="4400" dirty="0">
                <a:solidFill>
                  <a:srgbClr val="E3E8F2"/>
                </a:solidFill>
                <a:latin typeface="Segoe UI"/>
              </a:rPr>
              <a:t> works</a:t>
            </a:r>
            <a:endParaRPr sz="4400" dirty="0">
              <a:solidFill>
                <a:srgbClr val="E3E8F2"/>
              </a:solidFill>
              <a:latin typeface="Segoe UI"/>
            </a:endParaRPr>
          </a:p>
          <a:p>
            <a:pPr lvl="1"/>
            <a:r>
              <a:rPr lang="en-US" sz="4400" dirty="0">
                <a:solidFill>
                  <a:srgbClr val="E3E8F2"/>
                </a:solidFill>
                <a:latin typeface="Segoe UI"/>
              </a:rPr>
              <a:t>Only 1000 records</a:t>
            </a:r>
            <a:endParaRPr sz="4400" dirty="0">
              <a:solidFill>
                <a:srgbClr val="E3E8F2"/>
              </a:solidFill>
              <a:latin typeface="Segoe UI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B7E2F2E-49D6-6708-539F-2A0E081930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52046" y="547688"/>
            <a:ext cx="3138488" cy="3138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0" dur="indefinite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6" dur="indefinite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9" dur="indefinite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2" dur="indefinite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5" dur="indefinite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indefinite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3" dur="indefinite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 bldLvl="2"/>
      <p:bldP spid="13" grpId="1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Titl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Alerts with ARG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>
                <a:solidFill>
                  <a:srgbClr val="F7F9FF"/>
                </a:solidFill>
                <a:latin typeface="Segoe UI Semibold"/>
              </a:rPr>
              <a:t>ARG </a:t>
            </a:r>
            <a:r>
              <a:rPr dirty="0">
                <a:solidFill>
                  <a:srgbClr val="F7F9FF"/>
                </a:solidFill>
                <a:latin typeface="Segoe UI Semibold"/>
              </a:rPr>
              <a:t>Limitations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A6603F1-CFDA-1273-44F9-F88C5D69346E}"/>
              </a:ext>
            </a:extLst>
          </p:cNvPr>
          <p:cNvSpPr txBox="1">
            <a:spLocks/>
          </p:cNvSpPr>
          <p:nvPr/>
        </p:nvSpPr>
        <p:spPr>
          <a:xfrm>
            <a:off x="1257300" y="1909436"/>
            <a:ext cx="14727766" cy="39957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4800" kern="1200">
                <a:solidFill>
                  <a:srgbClr val="62D5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  <a:t>1000 records per query response</a:t>
            </a:r>
          </a:p>
          <a:p>
            <a:pPr lvl="1"/>
            <a:r>
              <a:rPr lang="en-US" sz="54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Implement pagination</a:t>
            </a:r>
          </a:p>
          <a:p>
            <a: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  <a:t>      15 queries /     5 seconds /     User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4000" dirty="0">
                <a:solidFill>
                  <a:srgbClr val="FFC000"/>
                </a:solidFill>
                <a:latin typeface="Segoe UI" panose="020B0502040204020203" pitchFamily="34" charset="0"/>
                <a:ea typeface="Cascadia Code" panose="020B0609020000020004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rgbClr val="FFC000"/>
                </a:solidFill>
                <a:latin typeface="Segoe UI" panose="020B0502040204020203" pitchFamily="34" charset="0"/>
                <a:ea typeface="Cascadia Code" panose="020B0609020000020004" pitchFamily="34" charset="0"/>
                <a:cs typeface="Segoe UI" panose="020B0502040204020203" pitchFamily="34" charset="0"/>
              </a:rPr>
              <a:t>x-</a:t>
            </a:r>
            <a:r>
              <a:rPr lang="en-US" dirty="0" err="1">
                <a:solidFill>
                  <a:srgbClr val="FFC000"/>
                </a:solidFill>
                <a:latin typeface="Segoe UI" panose="020B0502040204020203" pitchFamily="34" charset="0"/>
                <a:ea typeface="Cascadia Code" panose="020B0609020000020004" pitchFamily="34" charset="0"/>
                <a:cs typeface="Segoe UI" panose="020B0502040204020203" pitchFamily="34" charset="0"/>
              </a:rPr>
              <a:t>ms</a:t>
            </a:r>
            <a:r>
              <a:rPr lang="en-US" dirty="0">
                <a:solidFill>
                  <a:srgbClr val="FFC000"/>
                </a:solidFill>
                <a:latin typeface="Segoe UI" panose="020B0502040204020203" pitchFamily="34" charset="0"/>
                <a:ea typeface="Cascadia Code" panose="020B0609020000020004" pitchFamily="34" charset="0"/>
                <a:cs typeface="Segoe UI" panose="020B0502040204020203" pitchFamily="34" charset="0"/>
              </a:rPr>
              <a:t>-user-quota-remaining</a:t>
            </a:r>
            <a:endParaRPr lang="en-US" dirty="0">
              <a:solidFill>
                <a:srgbClr val="FFC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  <a:t>10 000 subscriptions limit for wide queries</a:t>
            </a:r>
          </a:p>
          <a:p>
            <a:pPr lvl="1"/>
            <a:endParaRPr lang="en-US" sz="5400" dirty="0">
              <a:latin typeface="Segoe UI" panose="020B0502040204020203" pitchFamily="34" charset="0"/>
              <a:ea typeface="Cascadia Code" panose="020B0609020000020004" pitchFamily="34" charset="0"/>
              <a:cs typeface="Segoe UI" panose="020B0502040204020203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3B5D3AA-5A39-98F4-0D97-CA0F74A77E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29875" y="3923815"/>
            <a:ext cx="561414" cy="56141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EC4357-6F93-A339-0C66-B346ED356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4409" y="3923815"/>
            <a:ext cx="559659" cy="55965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2E7C19F-A959-A0BB-60F6-643453C5C1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8942" y="3907305"/>
            <a:ext cx="559660" cy="559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4" dur="indefinite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7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0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3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5" grpId="1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7F9FF"/>
                </a:solidFill>
                <a:latin typeface="Segoe UI Semibold"/>
              </a:rPr>
              <a:t>ARG GET/LIST API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7F2C32-9279-3B2A-622D-D0E6FA54F214}"/>
              </a:ext>
            </a:extLst>
          </p:cNvPr>
          <p:cNvSpPr txBox="1"/>
          <p:nvPr/>
        </p:nvSpPr>
        <p:spPr>
          <a:xfrm>
            <a:off x="1656614" y="3616221"/>
            <a:ext cx="203835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44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&amp;</a:t>
            </a:r>
            <a:r>
              <a:rPr lang="en-US" sz="4400" dirty="0" err="1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useResourceGraph</a:t>
            </a:r>
            <a:r>
              <a:rPr lang="en-US" sz="44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=true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C43A0E4-6EE2-3987-D81A-2078AC7F43B2}"/>
              </a:ext>
            </a:extLst>
          </p:cNvPr>
          <p:cNvSpPr txBox="1">
            <a:spLocks/>
          </p:cNvSpPr>
          <p:nvPr/>
        </p:nvSpPr>
        <p:spPr>
          <a:xfrm>
            <a:off x="1394574" y="1910806"/>
            <a:ext cx="16731396" cy="39957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4800" kern="1200">
                <a:solidFill>
                  <a:srgbClr val="62D5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   4000 queries /     Minute /    User /    Subscription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Redirect ARM API requests to ARG</a:t>
            </a:r>
            <a:endParaRPr lang="en-US" sz="7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44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&amp;</a:t>
            </a:r>
            <a:r>
              <a:rPr lang="en-US" sz="4400" dirty="0" err="1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useResourceGraph</a:t>
            </a:r>
            <a:r>
              <a:rPr lang="en-US" sz="4400" dirty="0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=true</a:t>
            </a:r>
          </a:p>
          <a:p>
            <a:endParaRPr lang="en-US" sz="7200" dirty="0">
              <a:latin typeface="Segoe UI" panose="020B0502040204020203" pitchFamily="34" charset="0"/>
              <a:ea typeface="Cascadia Code" panose="020B0609020000020004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43CD4FA-086F-2E47-80B8-B2E7B9629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2277" y="2027042"/>
            <a:ext cx="486998" cy="48699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63EE619-C949-E3AA-9CB4-9BB1B89960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5435" y="2021698"/>
            <a:ext cx="559659" cy="55965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F07CBE8-3AC7-A3FB-231E-E06EBFD18F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2201" y="2014432"/>
            <a:ext cx="561414" cy="56141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A2EEE24-EC98-848A-69E2-A5AC911DC9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59751" y="1993438"/>
            <a:ext cx="593964" cy="5939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F3BCEE-1FF4-5C8E-3AC2-523C622502DD}"/>
              </a:ext>
            </a:extLst>
          </p:cNvPr>
          <p:cNvSpPr txBox="1"/>
          <p:nvPr/>
        </p:nvSpPr>
        <p:spPr>
          <a:xfrm>
            <a:off x="18288000" y="4986472"/>
            <a:ext cx="56313996" cy="69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https://</a:t>
            </a:r>
            <a:r>
              <a:rPr lang="en-US" sz="3600" dirty="0" err="1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management.azure.com</a:t>
            </a:r>
            <a:r>
              <a:rPr lang="en-US" sz="3600" dirty="0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/subscriptions/{</a:t>
            </a:r>
            <a:r>
              <a:rPr lang="en-US" sz="3600" dirty="0" err="1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subscriptionId</a:t>
            </a:r>
            <a:r>
              <a:rPr lang="en-US" sz="3600" dirty="0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}/</a:t>
            </a:r>
            <a:r>
              <a:rPr lang="en-US" sz="3600" dirty="0" err="1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resourceGroups</a:t>
            </a:r>
            <a:r>
              <a:rPr lang="en-US" sz="3600" dirty="0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/{</a:t>
            </a:r>
            <a:r>
              <a:rPr lang="en-US" sz="3600" dirty="0" err="1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resourceGroup</a:t>
            </a:r>
            <a:r>
              <a:rPr lang="en-US" sz="3600" dirty="0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}/providers/{</a:t>
            </a:r>
            <a:r>
              <a:rPr lang="en-US" sz="3600" dirty="0" err="1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providerNamespace</a:t>
            </a:r>
            <a:r>
              <a:rPr lang="en-US" sz="3600" dirty="0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}/{</a:t>
            </a:r>
            <a:r>
              <a:rPr lang="en-US" sz="3600" dirty="0" err="1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resourceType</a:t>
            </a:r>
            <a:r>
              <a:rPr lang="en-US" sz="3600" dirty="0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}/{</a:t>
            </a:r>
            <a:r>
              <a:rPr lang="en-US" sz="3600" dirty="0" err="1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resourceName</a:t>
            </a:r>
            <a:r>
              <a:rPr lang="en-US" sz="3600" dirty="0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}?</a:t>
            </a:r>
            <a:r>
              <a:rPr lang="en-US" sz="3600" dirty="0" err="1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api</a:t>
            </a:r>
            <a:r>
              <a:rPr lang="en-US" sz="3600" dirty="0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-version={</a:t>
            </a:r>
            <a:r>
              <a:rPr lang="en-US" sz="3600" dirty="0" err="1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apiVersion</a:t>
            </a:r>
            <a:r>
              <a:rPr lang="en-US" sz="3600" dirty="0">
                <a:solidFill>
                  <a:schemeClr val="tx1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CE5AFF3-CBD6-A855-E63A-13A9225C4E1A}"/>
                  </a:ext>
                </a:extLst>
              </p14:cNvPr>
              <p14:cNvContentPartPr/>
              <p14:nvPr/>
            </p14:nvContentPartPr>
            <p14:xfrm>
              <a:off x="1736126" y="5391792"/>
              <a:ext cx="6210633" cy="37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CE5AFF3-CBD6-A855-E63A-13A9225C4E1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34607" y="5178600"/>
                <a:ext cx="6413310" cy="43016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6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9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96296E-6 L -3.12252 2.96296E-6 " pathEditMode="relative" rAng="0" ptsTypes="AA">
                                      <p:cBhvr>
                                        <p:cTn id="51" dur="1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1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indefinite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9" dur="indefinite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0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33333E-6 1.11111E-6 L 0.16328 1.11111E-6 C 0.23706 1.11111E-6 0.32925 0.03364 0.32925 0.06204 L 0.32925 0.12901 " pathEditMode="relative" rAng="0" ptsTypes="AAAA">
                                      <p:cBhvr>
                                        <p:cTn id="61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58" y="64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9" grpId="0" uiExpand="1" build="p"/>
      <p:bldP spid="9" grpId="1" uiExpand="1" build="p"/>
      <p:bldP spid="9" grpId="2" uiExpand="1" build="p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>
                <a:solidFill>
                  <a:srgbClr val="F7F9FF"/>
                </a:solidFill>
                <a:latin typeface="Segoe UI Semibold"/>
              </a:rPr>
              <a:t>ARG </a:t>
            </a:r>
            <a:r>
              <a:rPr dirty="0">
                <a:solidFill>
                  <a:srgbClr val="F7F9FF"/>
                </a:solidFill>
                <a:latin typeface="Segoe UI Semibold"/>
              </a:rPr>
              <a:t>in Dashboards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F4AB66C-9191-EA75-8B50-9E7F7A19CA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93468" y="1364255"/>
            <a:ext cx="8501064" cy="85010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Titl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Dashboards with ARG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44550" y="3836988"/>
            <a:ext cx="17125398" cy="4081462"/>
          </a:xfrm>
        </p:spPr>
        <p:txBody>
          <a:bodyPr>
            <a:noAutofit/>
          </a:bodyPr>
          <a:lstStyle/>
          <a:p>
            <a:r>
              <a:rPr lang="en-US" sz="4400" dirty="0">
                <a:latin typeface="Segoe UI" panose="020B0502040204020203" pitchFamily="34" charset="0"/>
                <a:cs typeface="Segoe UI" panose="020B0502040204020203" pitchFamily="34" charset="0"/>
              </a:rPr>
              <a:t> Navigate the cloudy sea</a:t>
            </a:r>
          </a:p>
          <a:p>
            <a:pPr lvl="1"/>
            <a:r>
              <a:rPr lang="en-US" sz="40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ARG lets you query at scale</a:t>
            </a:r>
          </a:p>
          <a:p>
            <a:r>
              <a:rPr lang="en-US" sz="4400" dirty="0">
                <a:latin typeface="Segoe UI" panose="020B0502040204020203" pitchFamily="34" charset="0"/>
                <a:cs typeface="Segoe UI" panose="020B0502040204020203" pitchFamily="34" charset="0"/>
              </a:rPr>
              <a:t> Find hidden treasures</a:t>
            </a:r>
          </a:p>
          <a:p>
            <a:pPr lvl="1"/>
            <a:r>
              <a:rPr lang="en-US" sz="40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Identify differences, misconfigurations, details</a:t>
            </a:r>
          </a:p>
          <a:p>
            <a:r>
              <a:rPr lang="en-US" sz="4400" dirty="0">
                <a:latin typeface="Segoe UI" panose="020B0502040204020203" pitchFamily="34" charset="0"/>
                <a:cs typeface="Segoe UI" panose="020B0502040204020203" pitchFamily="34" charset="0"/>
              </a:rPr>
              <a:t> Hoist your sails anywhere</a:t>
            </a:r>
          </a:p>
          <a:p>
            <a:pPr lvl="1"/>
            <a:r>
              <a:rPr lang="en-US" sz="40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Use from Portal, VS Code (</a:t>
            </a:r>
            <a:r>
              <a:rPr lang="en-US" sz="4000" dirty="0" err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bARGE</a:t>
            </a:r>
            <a:r>
              <a:rPr lang="en-US" sz="40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), CLIs, dashboards, alerts and more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02EC189-BAB5-A069-D15C-6BCC0ED0CA3E}"/>
              </a:ext>
            </a:extLst>
          </p:cNvPr>
          <p:cNvGrpSpPr/>
          <p:nvPr/>
        </p:nvGrpSpPr>
        <p:grpSpPr>
          <a:xfrm>
            <a:off x="229635" y="9470382"/>
            <a:ext cx="2200000" cy="511955"/>
            <a:chOff x="9775935" y="6229126"/>
            <a:chExt cx="1691379" cy="393596"/>
          </a:xfrm>
        </p:grpSpPr>
        <p:pic>
          <p:nvPicPr>
            <p:cNvPr id="13" name="Graphic 56">
              <a:extLst>
                <a:ext uri="{FF2B5EF4-FFF2-40B4-BE49-F238E27FC236}">
                  <a16:creationId xmlns:a16="http://schemas.microsoft.com/office/drawing/2014/main" id="{2A2DC6F3-9A88-72E8-D65C-2960114891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280577" y="6229126"/>
              <a:ext cx="391207" cy="383223"/>
            </a:xfrm>
            <a:prstGeom prst="rect">
              <a:avLst/>
            </a:prstGeom>
            <a:effectLst/>
          </p:spPr>
        </p:pic>
        <p:pic>
          <p:nvPicPr>
            <p:cNvPr id="14" name="Graphic 56">
              <a:extLst>
                <a:ext uri="{FF2B5EF4-FFF2-40B4-BE49-F238E27FC236}">
                  <a16:creationId xmlns:a16="http://schemas.microsoft.com/office/drawing/2014/main" id="{3F619B66-E565-FA04-2496-F7DC352A9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0696834" y="6263498"/>
              <a:ext cx="320788" cy="327874"/>
            </a:xfrm>
            <a:prstGeom prst="rect">
              <a:avLst/>
            </a:prstGeom>
            <a:effectLst/>
          </p:spPr>
        </p:pic>
        <p:pic>
          <p:nvPicPr>
            <p:cNvPr id="15" name="Picture 14" descr="A black and white logo&#10;&#10;Description automatically generated">
              <a:extLst>
                <a:ext uri="{FF2B5EF4-FFF2-40B4-BE49-F238E27FC236}">
                  <a16:creationId xmlns:a16="http://schemas.microsoft.com/office/drawing/2014/main" id="{0B82BB6F-ADC7-9511-BB28-0CDDA5B50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83688" y="6239096"/>
              <a:ext cx="383626" cy="383626"/>
            </a:xfrm>
            <a:prstGeom prst="rect">
              <a:avLst/>
            </a:prstGeom>
          </p:spPr>
        </p:pic>
        <p:pic>
          <p:nvPicPr>
            <p:cNvPr id="16" name="Picture 15" descr="A blue butterfly on a black background&#10;&#10;AI-generated content may be incorrect.">
              <a:extLst>
                <a:ext uri="{FF2B5EF4-FFF2-40B4-BE49-F238E27FC236}">
                  <a16:creationId xmlns:a16="http://schemas.microsoft.com/office/drawing/2014/main" id="{0FCF77FA-238D-FBC0-366F-94F44C3B3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5935" y="6240132"/>
              <a:ext cx="438576" cy="3825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" name="TextBox 16"/>
          <p:cNvSpPr txBox="1"/>
          <p:nvPr/>
        </p:nvSpPr>
        <p:spPr>
          <a:xfrm>
            <a:off x="2429635" y="9444628"/>
            <a:ext cx="3085525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200">
                <a:solidFill>
                  <a:schemeClr val="bg1"/>
                </a:solidFill>
                <a:latin typeface="Segoe UI Semibold"/>
              </a:rPr>
              <a:t>@PalmEmanuel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D30FCED-6A26-C869-1852-E7E9783BE1A6}"/>
              </a:ext>
            </a:extLst>
          </p:cNvPr>
          <p:cNvGrpSpPr/>
          <p:nvPr/>
        </p:nvGrpSpPr>
        <p:grpSpPr>
          <a:xfrm>
            <a:off x="229635" y="9470382"/>
            <a:ext cx="2200000" cy="511955"/>
            <a:chOff x="9775935" y="6229126"/>
            <a:chExt cx="1691379" cy="393596"/>
          </a:xfrm>
        </p:grpSpPr>
        <p:pic>
          <p:nvPicPr>
            <p:cNvPr id="3" name="Graphic 56">
              <a:extLst>
                <a:ext uri="{FF2B5EF4-FFF2-40B4-BE49-F238E27FC236}">
                  <a16:creationId xmlns:a16="http://schemas.microsoft.com/office/drawing/2014/main" id="{56F63DA3-E4B5-D269-F128-461B5BED75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280577" y="6229126"/>
              <a:ext cx="391207" cy="383223"/>
            </a:xfrm>
            <a:prstGeom prst="rect">
              <a:avLst/>
            </a:prstGeom>
            <a:effectLst/>
          </p:spPr>
        </p:pic>
        <p:pic>
          <p:nvPicPr>
            <p:cNvPr id="4" name="Graphic 56">
              <a:extLst>
                <a:ext uri="{FF2B5EF4-FFF2-40B4-BE49-F238E27FC236}">
                  <a16:creationId xmlns:a16="http://schemas.microsoft.com/office/drawing/2014/main" id="{0ED27AC0-458C-D405-C99E-499AD74E4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0696834" y="6263498"/>
              <a:ext cx="320788" cy="327874"/>
            </a:xfrm>
            <a:prstGeom prst="rect">
              <a:avLst/>
            </a:prstGeom>
            <a:effectLst/>
          </p:spPr>
        </p:pic>
        <p:pic>
          <p:nvPicPr>
            <p:cNvPr id="5" name="Picture 4" descr="A black and white logo&#10;&#10;Description automatically generated">
              <a:extLst>
                <a:ext uri="{FF2B5EF4-FFF2-40B4-BE49-F238E27FC236}">
                  <a16:creationId xmlns:a16="http://schemas.microsoft.com/office/drawing/2014/main" id="{3FAC62A5-E83C-A16E-969B-9FFC1A38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83688" y="6239096"/>
              <a:ext cx="383626" cy="383626"/>
            </a:xfrm>
            <a:prstGeom prst="rect">
              <a:avLst/>
            </a:prstGeom>
          </p:spPr>
        </p:pic>
        <p:pic>
          <p:nvPicPr>
            <p:cNvPr id="6" name="Picture 5" descr="A blue butterfly on a black background&#10;&#10;AI-generated content may be incorrect.">
              <a:extLst>
                <a:ext uri="{FF2B5EF4-FFF2-40B4-BE49-F238E27FC236}">
                  <a16:creationId xmlns:a16="http://schemas.microsoft.com/office/drawing/2014/main" id="{7FE79C4E-2EBB-134E-8167-23C467B45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5935" y="6240132"/>
              <a:ext cx="438576" cy="3825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4D16807-9713-89B3-49D6-E6EDEC60F881}"/>
              </a:ext>
            </a:extLst>
          </p:cNvPr>
          <p:cNvSpPr txBox="1"/>
          <p:nvPr/>
        </p:nvSpPr>
        <p:spPr>
          <a:xfrm>
            <a:off x="2429635" y="9444628"/>
            <a:ext cx="3085525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200">
                <a:solidFill>
                  <a:schemeClr val="bg1"/>
                </a:solidFill>
                <a:latin typeface="Segoe UI Semibold"/>
              </a:rPr>
              <a:t>@PalmEmanuel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8904DA-0200-A947-917F-60A13689379C}"/>
              </a:ext>
            </a:extLst>
          </p:cNvPr>
          <p:cNvGrpSpPr/>
          <p:nvPr/>
        </p:nvGrpSpPr>
        <p:grpSpPr>
          <a:xfrm>
            <a:off x="14556915" y="332960"/>
            <a:ext cx="3419526" cy="3419526"/>
            <a:chOff x="7400741" y="3486246"/>
            <a:chExt cx="5076780" cy="5076780"/>
          </a:xfrm>
        </p:grpSpPr>
        <p:sp>
          <p:nvSpPr>
            <p:cNvPr id="8" name="QR backing">
              <a:extLst>
                <a:ext uri="{FF2B5EF4-FFF2-40B4-BE49-F238E27FC236}">
                  <a16:creationId xmlns:a16="http://schemas.microsoft.com/office/drawing/2014/main" id="{E4CA1D24-B6D3-939B-87DD-83409CE3FB95}"/>
                </a:ext>
              </a:extLst>
            </p:cNvPr>
            <p:cNvSpPr/>
            <p:nvPr/>
          </p:nvSpPr>
          <p:spPr>
            <a:xfrm>
              <a:off x="7400741" y="3486246"/>
              <a:ext cx="5076780" cy="50767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Picture 8" descr="A qr code with a black and white background&#10;&#10;AI-generated content may be incorrect.">
              <a:extLst>
                <a:ext uri="{FF2B5EF4-FFF2-40B4-BE49-F238E27FC236}">
                  <a16:creationId xmlns:a16="http://schemas.microsoft.com/office/drawing/2014/main" id="{75984715-474D-2D16-96EC-5B497BFD2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20741" y="3606246"/>
              <a:ext cx="4836780" cy="4836780"/>
            </a:xfrm>
            <a:prstGeom prst="rect">
              <a:avLst/>
            </a:prstGeom>
          </p:spPr>
        </p:pic>
      </p:grpSp>
      <p:pic>
        <p:nvPicPr>
          <p:cNvPr id="10" name="Graphique 5">
            <a:extLst>
              <a:ext uri="{FF2B5EF4-FFF2-40B4-BE49-F238E27FC236}">
                <a16:creationId xmlns:a16="http://schemas.microsoft.com/office/drawing/2014/main" id="{3DF91375-B0F1-C253-0A0D-D8DCA7A523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6329512" y="3870571"/>
            <a:ext cx="1136252" cy="12619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B4FD82-F3E0-2967-7D90-89B7A0CE0C5E}"/>
              </a:ext>
            </a:extLst>
          </p:cNvPr>
          <p:cNvSpPr txBox="1"/>
          <p:nvPr/>
        </p:nvSpPr>
        <p:spPr>
          <a:xfrm>
            <a:off x="12232699" y="3977236"/>
            <a:ext cx="6858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tx1"/>
                </a:solidFill>
                <a:ea typeface="Cascadia Code" panose="020B0609020000020004" pitchFamily="34" charset="0"/>
                <a:cs typeface="Cascadia Code" panose="020B0609020000020004" pitchFamily="34" charset="0"/>
              </a:rPr>
              <a:t>Install </a:t>
            </a:r>
            <a:r>
              <a:rPr lang="en-US" sz="4400" dirty="0" err="1">
                <a:solidFill>
                  <a:srgbClr val="FFC000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bARGE</a:t>
            </a:r>
            <a:r>
              <a:rPr lang="en-US" sz="4400" b="1" dirty="0">
                <a:solidFill>
                  <a:schemeClr val="tx1"/>
                </a:solidFill>
                <a:ea typeface="Cascadia Code" panose="020B0609020000020004" pitchFamily="34" charset="0"/>
                <a:cs typeface="Cascadia Code" panose="020B0609020000020004" pitchFamily="34" charset="0"/>
              </a:rPr>
              <a:t> here</a:t>
            </a:r>
            <a:br>
              <a:rPr lang="en-US" sz="4400" b="1" dirty="0">
                <a:solidFill>
                  <a:schemeClr val="tx1"/>
                </a:solidFill>
                <a:ea typeface="Cascadia Code" panose="020B0609020000020004" pitchFamily="34" charset="0"/>
                <a:cs typeface="Cascadia Code" panose="020B0609020000020004" pitchFamily="34" charset="0"/>
              </a:rPr>
            </a:br>
            <a:r>
              <a:rPr lang="en-US" sz="4400" b="1" dirty="0">
                <a:solidFill>
                  <a:schemeClr val="tx1"/>
                </a:solidFill>
                <a:ea typeface="Cascadia Code" panose="020B0609020000020004" pitchFamily="34" charset="0"/>
                <a:cs typeface="Cascadia Code" panose="020B0609020000020004" pitchFamily="34" charset="0"/>
              </a:rPr>
              <a:t>if you’re curious</a:t>
            </a:r>
          </a:p>
        </p:txBody>
      </p:sp>
    </p:spTree>
    <p:extLst>
      <p:ext uri="{BB962C8B-B14F-4D97-AF65-F5344CB8AC3E}">
        <p14:creationId xmlns:p14="http://schemas.microsoft.com/office/powerpoint/2010/main" val="75440203"/>
      </p:ext>
    </p:extLst>
  </p:cSld>
  <p:clrMapOvr>
    <a:masterClrMapping/>
  </p:clrMapOvr>
</p:sld>
</file>

<file path=ppt/theme/theme1.xml><?xml version="1.0" encoding="utf-8"?>
<a:theme xmlns:a="http://schemas.openxmlformats.org/drawingml/2006/main" name="ELSE26">
  <a:themeElements>
    <a:clrScheme name="ELSE26">
      <a:dk1>
        <a:srgbClr val="E3E3E3"/>
      </a:dk1>
      <a:lt1>
        <a:srgbClr val="E3E3E3"/>
      </a:lt1>
      <a:dk2>
        <a:srgbClr val="C9E3EB"/>
      </a:dk2>
      <a:lt2>
        <a:srgbClr val="C9E3EB"/>
      </a:lt2>
      <a:accent1>
        <a:srgbClr val="1D3380"/>
      </a:accent1>
      <a:accent2>
        <a:srgbClr val="008BD2"/>
      </a:accent2>
      <a:accent3>
        <a:srgbClr val="E3E3E3"/>
      </a:accent3>
      <a:accent4>
        <a:srgbClr val="60B1E3"/>
      </a:accent4>
      <a:accent5>
        <a:srgbClr val="5B9BD5"/>
      </a:accent5>
      <a:accent6>
        <a:srgbClr val="2A93A4"/>
      </a:accent6>
      <a:hlink>
        <a:srgbClr val="9AC06A"/>
      </a:hlink>
      <a:folHlink>
        <a:srgbClr val="9AC06A"/>
      </a:folHlink>
    </a:clrScheme>
    <a:fontScheme name="ELSE26">
      <a:majorFont>
        <a:latin typeface="Segoe UI Light"/>
        <a:ea typeface=""/>
        <a:cs typeface="Segoe UI Light"/>
      </a:majorFont>
      <a:minorFont>
        <a:latin typeface="Segoe UI Light"/>
        <a:ea typeface=""/>
        <a:cs typeface="Segoe UI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SE_template_v2.0.potx" id="{BE476902-E36F-41EA-B3FE-7F74ABD1DBF8}" vid="{AF7C9A2F-8D2C-4B64-A125-981CE64DCA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1fca98-92ba-4584-8d05-b623a44bff8b">
      <Terms xmlns="http://schemas.microsoft.com/office/infopath/2007/PartnerControls"/>
    </lcf76f155ced4ddcb4097134ff3c332f>
    <TaxCatchAll xmlns="510f3f9e-3839-48e4-9021-7d570598729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87289FD7FD044BA8CDFB27AA3ACB4D" ma:contentTypeVersion="12" ma:contentTypeDescription="Create a new document." ma:contentTypeScope="" ma:versionID="ffc60c7472a67f7db5cc5908976f4220">
  <xsd:schema xmlns:xsd="http://www.w3.org/2001/XMLSchema" xmlns:xs="http://www.w3.org/2001/XMLSchema" xmlns:p="http://schemas.microsoft.com/office/2006/metadata/properties" xmlns:ns2="dd1fca98-92ba-4584-8d05-b623a44bff8b" xmlns:ns3="510f3f9e-3839-48e4-9021-7d5705987296" targetNamespace="http://schemas.microsoft.com/office/2006/metadata/properties" ma:root="true" ma:fieldsID="a70f3c67f3c0a81d9cba91b8d514bdcb" ns2:_="" ns3:_="">
    <xsd:import namespace="dd1fca98-92ba-4584-8d05-b623a44bff8b"/>
    <xsd:import namespace="510f3f9e-3839-48e4-9021-7d57059872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1fca98-92ba-4584-8d05-b623a44bff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93df3c9-e0b1-41e3-a901-d28e2a6594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0f3f9e-3839-48e4-9021-7d570598729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10d76f-8790-4012-8716-a27c97c030b2}" ma:internalName="TaxCatchAll" ma:showField="CatchAllData" ma:web="510f3f9e-3839-48e4-9021-7d57059872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D23921-D1B3-4277-8367-4BA3F95E1C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EE73F2-3A4A-4C36-9D33-162B297E8156}">
  <ds:schemaRefs>
    <ds:schemaRef ds:uri="http://schemas.microsoft.com/office/2006/metadata/properties"/>
    <ds:schemaRef ds:uri="http://www.w3.org/2000/xmlns/"/>
    <ds:schemaRef ds:uri="dd1fca98-92ba-4584-8d05-b623a44bff8b"/>
    <ds:schemaRef ds:uri="http://schemas.microsoft.com/office/infopath/2007/PartnerControls"/>
    <ds:schemaRef ds:uri="510f3f9e-3839-48e4-9021-7d5705987296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7D963D23-16B1-4453-AFAF-B17ED4489B8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d1fca98-92ba-4584-8d05-b623a44bff8b"/>
    <ds:schemaRef ds:uri="510f3f9e-3839-48e4-9021-7d5705987296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904</Words>
  <Application>Microsoft Macintosh PowerPoint</Application>
  <PresentationFormat>Custom</PresentationFormat>
  <Paragraphs>189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Aptos</vt:lpstr>
      <vt:lpstr>Arial</vt:lpstr>
      <vt:lpstr>Cascadia Code</vt:lpstr>
      <vt:lpstr>Consolas</vt:lpstr>
      <vt:lpstr>Montserrat ExtraBold</vt:lpstr>
      <vt:lpstr>Segoe UI</vt:lpstr>
      <vt:lpstr>Segoe UI Light</vt:lpstr>
      <vt:lpstr>Segoe UI Semibold</vt:lpstr>
      <vt:lpstr>Wingdings</vt:lpstr>
      <vt:lpstr>ELSE26</vt:lpstr>
      <vt:lpstr>PowerPoint Presentation</vt:lpstr>
      <vt:lpstr>PowerPoint Presentation</vt:lpstr>
      <vt:lpstr>PowerPoint Presentation</vt:lpstr>
      <vt:lpstr>What’s a pirate’s favorite Azure service? 🏴‍☠️</vt:lpstr>
      <vt:lpstr>PowerPoint Presentation</vt:lpstr>
      <vt:lpstr>Azure Resource Graph</vt:lpstr>
      <vt:lpstr>Azure Resource Graph Explorer</vt:lpstr>
      <vt:lpstr>Azure Resource Graph Explorer</vt:lpstr>
      <vt:lpstr>Azure Resource Graph Explorer</vt:lpstr>
      <vt:lpstr>Azure Resource Graph Explorer</vt:lpstr>
      <vt:lpstr>Azure Resource Graph Explorer</vt:lpstr>
      <vt:lpstr>PowerPoint Presentation</vt:lpstr>
      <vt:lpstr>Ways to use Azure Resource Graph</vt:lpstr>
      <vt:lpstr>ARG KQL Syntax</vt:lpstr>
      <vt:lpstr>Example Query</vt:lpstr>
      <vt:lpstr>Example Query</vt:lpstr>
      <vt:lpstr>Example Query</vt:lpstr>
      <vt:lpstr>Example Query</vt:lpstr>
      <vt:lpstr>PowerPoint Presentation</vt:lpstr>
      <vt:lpstr>Unsupported KQL Syntax in ARG</vt:lpstr>
      <vt:lpstr>Sharing Queries</vt:lpstr>
      <vt:lpstr>Tips &amp; Tricks</vt:lpstr>
      <vt:lpstr>Alerts with Azure Resource Graph</vt:lpstr>
      <vt:lpstr>PowerPoint Presentation</vt:lpstr>
      <vt:lpstr>ARG Limitations</vt:lpstr>
      <vt:lpstr>ARG GET/LIST API</vt:lpstr>
      <vt:lpstr>ARG in Dashboards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Experts Live Sweden 2026</dc:title>
  <dc:subject/>
  <dc:creator/>
  <cp:lastModifiedBy>Emanuel Palm</cp:lastModifiedBy>
  <cp:revision>2</cp:revision>
  <dcterms:created xsi:type="dcterms:W3CDTF">2026-09-22T14:11:21Z</dcterms:created>
  <dcterms:modified xsi:type="dcterms:W3CDTF">2026-10-11T19:26:46Z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0x0101001C87289FD7FD044BA8CDFB27AA3ACB4D</vt:lpwstr>
  </property>
  <property fmtid="{D5CDD505-2E9C-101B-9397-08002B2CF9AE}" pid="4" name="MSIP_Label_fac13479-317c-4ee0-9f75-0b42393a703d_Enabled">
    <vt:lpwstr>true</vt:lpwstr>
  </property>
  <property fmtid="{D5CDD505-2E9C-101B-9397-08002B2CF9AE}" pid="5" name="MSIP_Label_fac13479-317c-4ee0-9f75-0b42393a703d_ContentBits">
    <vt:lpwstr>0</vt:lpwstr>
  </property>
  <property fmtid="{D5CDD505-2E9C-101B-9397-08002B2CF9AE}" pid="6" name="MSIP_Label_fac13479-317c-4ee0-9f75-0b42393a703d_Name">
    <vt:lpwstr>fac13479-317c-4ee0-9f75-0b42393a703d</vt:lpwstr>
  </property>
  <property fmtid="{D5CDD505-2E9C-101B-9397-08002B2CF9AE}" pid="7" name="MSIP_Label_fac13479-317c-4ee0-9f75-0b42393a703d_SiteId">
    <vt:lpwstr>43821605-9180-4e4d-86a3-b2925b41052d</vt:lpwstr>
  </property>
  <property fmtid="{D5CDD505-2E9C-101B-9397-08002B2CF9AE}" pid="8" name="MSIP_Label_fac13479-317c-4ee0-9f75-0b42393a703d_ActionId">
    <vt:lpwstr>37affe10-a468-4e40-bd71-5b7460918513</vt:lpwstr>
  </property>
  <property fmtid="{D5CDD505-2E9C-101B-9397-08002B2CF9AE}" pid="9" name="MSIP_Label_fac13479-317c-4ee0-9f75-0b42393a703d_Tag">
    <vt:lpwstr>10, 3, 0, 1</vt:lpwstr>
  </property>
  <property fmtid="{D5CDD505-2E9C-101B-9397-08002B2CF9AE}" pid="10" name="MSIP_Label_fac13479-317c-4ee0-9f75-0b42393a703d_Method">
    <vt:lpwstr>Standard</vt:lpwstr>
  </property>
  <property fmtid="{D5CDD505-2E9C-101B-9397-08002B2CF9AE}" pid="11" name="MSIP_Label_fac13479-317c-4ee0-9f75-0b42393a703d_SetDate">
    <vt:lpwstr>2026-04-28T11:09:56Z</vt:lpwstr>
  </property>
</Properties>
</file>