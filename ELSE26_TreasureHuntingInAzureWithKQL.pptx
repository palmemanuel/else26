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332" r:id="rId5"/>
    <p:sldId id="333" r:id="rId6"/>
    <p:sldId id="334" r:id="rId7"/>
    <p:sldId id="335" r:id="rId8"/>
    <p:sldId id="336" r:id="rId9"/>
    <p:sldId id="337" r:id="rId10"/>
    <p:sldId id="338" r:id="rId11"/>
    <p:sldId id="339" r:id="rId12"/>
    <p:sldId id="340" r:id="rId13"/>
    <p:sldId id="341" r:id="rId14"/>
    <p:sldId id="32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57" r:id="rId31"/>
    <p:sldId id="358" r:id="rId32"/>
    <p:sldId id="324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C58087A3-450B-4B4E-A6A3-2715F27AE7DD}">
          <p14:sldIdLst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</p14:sldIdLst>
        </p14:section>
        <p14:section name="Sponsors" id="{B4AE7E17-068D-47CF-BFEC-1852F34E12BB}">
          <p14:sldIdLst>
            <p14:sldId id="32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</p14:sldIdLst>
        </p14:section>
        <p14:section name="Speaker presentation" id="{DD9F438E-6775-4DA2-9EF1-0D790C1E2A12}">
          <p14:sldIdLst/>
        </p14:section>
        <p14:section name="Session content" id="{2D942C1D-45C7-4062-AB92-81A3FE638D83}">
          <p14:sldIdLst/>
        </p14:section>
        <p14:section name="End" id="{07B014FB-523A-4D3C-B9D8-93F7685B4BB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8BD2"/>
    <a:srgbClr val="1E3480"/>
    <a:srgbClr val="F0F3F6"/>
    <a:srgbClr val="1A2E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0" autoAdjust="0"/>
    <p:restoredTop sz="94639" autoAdjust="0"/>
  </p:normalViewPr>
  <p:slideViewPr>
    <p:cSldViewPr snapToGrid="0">
      <p:cViewPr>
        <p:scale>
          <a:sx n="80" d="100"/>
          <a:sy n="80" d="100"/>
        </p:scale>
        <p:origin x="1904" y="8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567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C377512-493B-9E00-AAE8-1F3835CDA5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7CDAD41-4318-2D6B-BE93-162BA3EAAC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121D3-5551-41DB-AC5C-875FAACFADC2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2E9DCFE-4567-6AD3-7990-A06B5506F1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83632A9-C241-FA0C-AB0F-C613FDBBA3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23FABE-4F8E-40DF-83A5-18BAFB40B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60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1"/>
    </inkml:context>
    <inkml:brush xml:id="br0">
      <inkml:brushProperty name="width" value="0.1" units="cm"/>
      <inkml:brushProperty name="height" value="0.1" units="cm"/>
      <inkml:brushProperty name="color" value="#EE2924"/>
    </inkml:brush>
  </inkml:definitions>
  <inkml:trace contextRef="#ctx0" brushRef="#br0">1 1 24575,'221'19'0,"2"0"0,-2 0 0,-9-5 0,23 1 0,22-1 0,13 1 0,10 4 0,7 0 0,3 1-894,-67 1 0,8 0 1,4 2-1,2 2 0,8 0 1,2 3-1,3-4 0,6 3 1,1-1-1,1-2 0,5 0 787,-23-6 1,5 1-1,2-1 1,4-1 0,2 0-1,3 0 1,2-1-1,3 1 1,1 0 0,1 2-1,3 0 1,0 0-1,1 3 1,4 1-21,-26 1 0,2-2 0,5 1 1,4 2-1,0 2 0,1-2 0,2 2 1,1 1-1,2 1 0,-3-2 1,0 2-1,-2 1 0,0-1 0,-3 0 1,1 2-1,-9-2 0,2 0 127,22 5 0,0-1 0,1 3 0,-3-3 0,-2 3 0,-3 0 0,1-1 0,-4 0 0,-1 1 0,-2-1 0,-1 3 0,-4-3 0,0 3 0,-3 0-38,12-1 0,2 3 1,1 0-1,-3-1 1,-2 1-1,-5 1 1,-1-1-1,-5 2 1,-6-2-1,-7 1 1,-6-1-1,-11 1 38,69 16 0,-4-1 0,-11 3 0,-11-1 0,-16-3 0,-21-4 0,-29-3 0,33 13 0,-33-7 0,-58-12 0,-55-19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2"/>
    </inkml:context>
    <inkml:brush xml:id="br0">
      <inkml:brushProperty name="width" value="0.1" units="cm"/>
      <inkml:brushProperty name="height" value="0.1" units="cm"/>
      <inkml:brushProperty name="color" value="#EE2924"/>
    </inkml:brush>
  </inkml:definitions>
  <inkml:trace contextRef="#ctx0" brushRef="#br0">1 1971 24575,'185'-38'0,"2"2"0,1-1 0,16 6 0,15 3 0,12-1 0,9 0 0,-45 1 0,4 2 0,8-3 0,8 0 0,11-1 0,11 3-1093,-13 6 1,13 0 0,10 0 0,10 2-1,3 0 1,7-1 0,1-1 0,0 0-1,-4-4 957,-35 2 1,0-2-1,2-2 1,-4 0-1,7 0 1,-2-2 0,6 1-1,1-1 1,6 2-1,7-3 1,7 3-9,-24 5 0,5-1 1,10-1-1,1 2 0,8 1 1,1-3-1,2 2 1,3-1-1,-1 0 0,1 0 1,-1 0-1,-3 0 0,-2 0 1,-3 0-1,-6-2 144,-3 0 0,-3 0 0,-4-2 0,0 0 0,-2-1 0,-3-1 0,2 2 0,-1 0 0,1 0 0,1 0 0,2 1 0,0 4 0,5-4 0,1 6-44,5-1 1,8 2 0,3 2 0,6-1 0,2 3 0,1-2 0,-1 3 0,-1-1-1,-1 1 1,-7 1 0,-5-1 0,-6 1 0,-8-2 0,-12 1 0,-9 1 43,62-8 0,-13 0 0,-13 1 0,-8-1 0,-9 2 0,-5 2 0,-5 5 0,1 2 0,49 3 0,12 7 0,-3 2 0,-30 3 0,-48 0 0,-70-2 0,-49-1 0,-92 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6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0 1 24575,'6'58'0,"-2"52"0,-4 69 0,0 37 0,0-82 0,0 5 0,4 2 0,6 1-1053,7 16 1,5 4 1052,4-4 0,9-2 0,24 12 0,10-2 0,0-14 0,4-4 0,5-13 0,7-4 0,23 25 0,10-4 0,-3-23 0,13-1 0,-2-22 0,11 1 0,-1-4-834,30 18 0,3-7 834,30-3 0,-2-9 0,-52-30 0,1-3 0,13 6 0,-1-2 52,-16-13 0,-5 0-52,-1-4 0,-8-4 0,75 31 0,-48-27 937,-29-4-937,-39-18 1837,-32-11-1837,-31-7 895,-12-9-895,-8 3 0,-3-6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7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1 833 24575,'53'0'0,"9"0"0,29 0 0,28 0 0,31 0 0,-48 0 0,-2 0 0,33 0 0,36 0 0,-94 0 0,9 0 0,-40 0 0,-12-3 0,-29-2 0,-3 0 0,-3 0 0,-2 1 0,4-2 0,-4 0 0,2 1 0,-3 0 0,-1-1 0,1 0 0,-4-3 0,-2-2 0,-3-5 0,-15-19 0,-12-16 0,-19-20 0,-29-29 0,15 24 0,-18-18 0,-21-10 0,51 43 0,-29-23 0,68 63 0,2 5 0,10 7 0,5 3 0,4 2 0,-2-1 0,2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8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1299 1 24575,'0'26'0,"0"24"0,0 34 0,0 18 0,0 24 0,-5 2 0,-3 16 0,-2 1-1758,-2 7 1,-1 1 0,-4 5 1757,3-26 0,-3 2 0,0 0 0,-3-7 0,-5 10 0,-4-9 0,-1 1-491,-4 0 1,-1-4 0,0 2 490,-4-5 0,-2 0 0,-1-2 0,-3 9 0,-1-2 0,1-5-548,-16 33 0,0-10 548,6-23 0,2-11-128,15-30 1,1-10 127,-19 29 3097,5-11-3097,14-31 2982,-1 2-2982,7-19 1601,8-8-1601,2-8 414,1 1-414,0-1 0,1-4 0,-1 6 0,10-13 0,-3 8 0,6-14 0,2 2 0,0-3 0,0-4 0,0-1 0,0-2 0,0 0 0,1-2 0,-1-1 0,2-4 0,-1 0 0,3 2 0,1 2 0,-2-2 0,2 0 0,0-1 0,0 2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9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45 1 24575,'0'30'0,"0"2"0,0 26 0,0-15 0,0 44 0,0-40 0,0 13 0,0-25 0,0-10 0,0-4 0,0-2 0,0-7 0,0 1 0,0-4 0,0-3 0,0 0 0,0-2 0,0-1 0,0 2 0,0-1 0,0 1 0,0-1 0,0 1 0,0-1 0,0-1 0,0 1 0,0 1 0,-1 1 0,-1 0 0,-1 0 0,2 0 0,-2 2 0,0 4 0,-2 13 0,1-1 0,-1 6 0,2-8 0,0-1 0,0-1 0,2-3 0,-2-4 0,1-3 0,1-4 0,-1-1 0,14-19 0,6 1 0,22-15 0,9 4 0,56-14 0,-28 10 0,27-9 0,-46 17 0,-4 0 0,-6 0 0,-5 3 0,-12 2 0,-8 6 0,-9 3 0,-5 2 0,-3 2 0,-2-1 0,1 2 0,4-2 0,3 0 0,5 0 0,-1-2 0,-1 2 0,-1 0 0,-2 1 0,-1-1 0,-2 1 0,-5 1 0,-2-4 0,-2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0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0 0 24575,'5'89'0,"-2"31"0,-3 5 0,0 8-460,0-33 0,0 5 460,0 20 0,0 16 0,0-3-1112,0-28 1,0-3 0,0 1 1111,0 3 0,0-2 0,0-1 0,0 39 0,0-15 940,0-1-940,0-29 0,0-37 0,0-16 399,0-25-399,0-24 2876,0-25-2876,0-5 39,0-11-39,0 7 0,0 11 0,0 3 0,0 11 0,0 3 0,0 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1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1 0 24575,'5'18'0,"5"7"0,1-4 0,4 4 0,-3-5 0,-2 0 0,1-3 0,-2 0 0,-1-4 0,-2-3 0,-2-1 0,1 0 0,-2-1 0,0-3 0,1 1 0,-1 3 0,3 2 0,1 2 0,-1 0 0,1 2 0,-1-2 0,0-1 0,0-3 0,2 0 0,-4-2 0,2 1 0,-3-4 0,0 2 0,-1-1 0,1 0 0,-3 1 0,1-1 0,1 1 0,-1-2 0,3 2 0,-3-1 0,-1-1 0,3 0 0,-1 2 0,1 2 0,0-4 0,1 5 0,-4-3 0,3 1 0,-1 1 0,1-2 0,-2-2 0,2 2 0,-3 0 0,2-3 0,-1 1 0,1-1 0,1 0 0,-2 3 0,4 2 0,-4-4 0,2 3 0,-1-2 0,1 1 0,-2 1 0,1 1 0,1-1 0,-2-1 0,2-2 0,-1 2 0,1-3 0,0 0 0,2-3 0,-2 0 0,3 0 0,-2 0 0,1-1 0,2-5 0,1-2 0,2-2 0,4-2 0,1 0 0,3-1 0,0 0 0,2-1 0,1-3 0,3-3 0,2-2 0,4-4 0,-2 0 0,-1-2 0,3 2 0,15-20 0,-13 16 0,16-19 0,-23 26 0,5-5 0,-4 4 0,-4 5 0,-4 4 0,-6 5 0,-2 1 0,-3 3 0,-1 3 0,-1 0 0,-4 1 0,2-1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2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1 0 24575,'50'0'0,"60"11"0,-27 2 0,7 3-913,32 9 1,7 5 912,-28-3 0,2 5 0,9 4-1386,18 8 0,10 9 0,3 2 1,-7 1 1385,10 5 0,-6 1 0,9 6 0,-26-12 0,8 4 0,5 2 0,-4 1 0,-8-1 0,-2 5 0,-7-1 0,-4 1 0,3 1 0,-1-2 0,0 4 0,-1 0 0,-2-1 0,-6 1 0,-4 1 0,0 2 0,1 3 0,6 12 0,-1 2 0,0 5 0,-3 0 0,2 5 0,-3 3 0,-1 1 0,-2 1 0,-2-2 0,-3 0 0,-2 1 0,0 6 0,2 7 0,0 5 0,-5 0 0,-7-2 0,7 17 0,-8-4 0,-4-2-324,-11-12 0,-3 0 1,-1-2 323,-1 5 0,-1 0 0,-7-6-431,-4 7 0,-7-7 431,0-3 0,-3-4 0,-5-8 0,-5-6 420,10 53-420,-7-15 0,-7-22 3902,-11-34-3902,-7-26 3235,-4-21-3235,-3-9 1438,1-10-1438,-1-6 206,2-18-206,0-9 0,-2-43 0,0 36 0,0-18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3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0 475 24575,'43'23'0,"2"2"0,-12 2 0,-1-1 0,10 11 0,-17-14 0,6 6 0,-17-14 0,-2-3 0,-7-5 0,1-4 0,-1 1 0,-2-3 0,4 4 0,0 0 0,5 2 0,2 1 0,3 4 0,5 2 0,3 4 0,-7-3 0,3 2 0,-11-7 0,3-1 0,-5-1 0,-1-1 0,0-2 0,0-2 0,-2-1 0,2-7 0,-4 0 0,2-3 0,-1-8 0,4-5 0,8-10 0,12-14 0,13-18 0,9-16 0,10-17 0,-8 3 0,-4 4 0,-8 17 0,-11 11 0,-3 9 0,-7 13 0,-4 7 0,-5 10 0,-1 8 0,-5 8 0,-3 4 0,-1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4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0 0 24575,'51'81'0,"1"1"0,5 14 0,7 12 0,-8-10 0,6 12 0,3 4 0,-3-3-2828,7 18 1,-1-3 0,3 7 2827,-3-7 0,5 8 0,-2-1 0,-5-5 0,-1 2 0,-3-6 0,-1-1-66,-5-9 1,-2-2-1,-1-2 66,-9-17 0,-2-3 0,0-1 342,22 44 1,-5-6-343,-17-33 0,-1-7-71,-6-6 1,-2-4 70,11 38 0,-20-45 3784,-3-5-3784,-9-18 2537,-6-11-2537,-1-2 1583,-2-9-1583,0-6 231,-2-4-231,1-4 0,-2-6 0,0-5 0,0-8 0,-2 2 0,2-6 0,-1 7 0,-1 2 0,2 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5"/>
    </inkml:context>
    <inkml:brush xml:id="br0">
      <inkml:brushProperty name="width" value="0.1" units="cm"/>
      <inkml:brushProperty name="height" value="0.1" units="cm"/>
      <inkml:brushProperty name="color" value="#4C4C5E"/>
    </inkml:brush>
  </inkml:definitions>
  <inkml:trace contextRef="#ctx0" brushRef="#br0">0 149 24575,'38'29'0,"6"6"0,30 30 0,-15-15 0,33 38 0,-33-31 0,-2 1 0,-14-12 0,-16-18 0,-8-4 0,-5-9 0,-5-7 0,-1-3 0,-4-1 0,1 1 0,-1-4 0,-1-8 0,-1-4 0,-2-11 0,1-35 0,7 0 0,4-33 0,14-2 0,-7 27 0,5-10 0,-8 35 0,-3 3 0,-4 10 0,-1 7 0,-4 6 0,-2 5 0,1 5 0,1 1 0,-1 2 0,2-2 0,-4-2 0,3 1 0,-1 1 0,-2-3 0,1 1 0,-2-1 0,0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387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https://learn.microsoft.com/en-gb/azure/governance/resource-graph/alerts-query-quickstart?tabs=azure-resource-graph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https://learn.microsoft.com/en-us/azure/governance/resource-graph/concepts/azure-resource-graph-get-list-api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E9D60F-DCB5-DECA-D136-2146EEB88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0875" y="1898650"/>
            <a:ext cx="16916400" cy="6646863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buFont typeface="Arial" panose="020B0604020202020204" pitchFamily="34" charset="0"/>
              <a:buChar char="•"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70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4710-DEDC-489D-CAEC-0B77AD16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608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2520613" cy="6742112"/>
          </a:xfrm>
        </p:spPr>
        <p:txBody>
          <a:bodyPr/>
          <a:lstStyle>
            <a:lvl1pPr>
              <a:buNone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36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2262414"/>
            <a:ext cx="7978252" cy="67421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2263181"/>
            <a:ext cx="7947025" cy="674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019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3054698"/>
            <a:ext cx="7978252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3054693"/>
            <a:ext cx="7947025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C6EBB-F4B8-AB73-BDEF-AA28964EB9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1300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C5CB73-C55F-79AA-23C3-6D26F7832F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23873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8310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EBEB1-87B8-5EFA-988B-2FDB3AAC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4467940"/>
            <a:ext cx="5686110" cy="1351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0690E6-B14B-FA2F-0504-1D7CF15EF5FD}"/>
              </a:ext>
            </a:extLst>
          </p:cNvPr>
          <p:cNvCxnSpPr>
            <a:cxnSpLocks/>
          </p:cNvCxnSpPr>
          <p:nvPr userDrawn="1"/>
        </p:nvCxnSpPr>
        <p:spPr>
          <a:xfrm>
            <a:off x="6692202" y="2411604"/>
            <a:ext cx="0" cy="5606981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1FF68E-2509-E1EF-F965-CC0CC8BF06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97788" y="2120900"/>
            <a:ext cx="9223375" cy="62896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491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47952-66F4-CED5-D513-C02C1A3A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ED6874-C7BC-AEC7-0446-4DCDD3A566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121936"/>
            <a:ext cx="15585333" cy="6981871"/>
          </a:xfrm>
          <a:solidFill>
            <a:srgbClr val="000000"/>
          </a:solidFill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  <a:latin typeface="Consolas" panose="020B0609020204030204" pitchFamily="49" charset="0"/>
              </a:defRPr>
            </a:lvl1pPr>
            <a:lvl2pPr>
              <a:defRPr sz="2700">
                <a:solidFill>
                  <a:srgbClr val="010101"/>
                </a:solidFill>
              </a:defRPr>
            </a:lvl2pPr>
            <a:lvl3pPr>
              <a:defRPr sz="2400">
                <a:solidFill>
                  <a:srgbClr val="010101"/>
                </a:solidFill>
              </a:defRPr>
            </a:lvl3pPr>
            <a:lvl4pPr>
              <a:defRPr sz="2100">
                <a:solidFill>
                  <a:srgbClr val="010101"/>
                </a:solidFill>
              </a:defRPr>
            </a:lvl4pPr>
            <a:lvl5pPr>
              <a:defRPr sz="2100">
                <a:solidFill>
                  <a:srgbClr val="01010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D95AE1F-BD02-6370-FC44-1FFA116B3FF0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6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422758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s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16533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2114041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3484119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keaway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3983917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1504332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2B372B6-8D8D-63FC-5DCE-DC8721A64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63750" y="7197468"/>
            <a:ext cx="5078648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12156" y="1193956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kern="0" spc="3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Tuesday</a:t>
            </a:r>
            <a:r>
              <a:rPr lang="en-US" sz="2000" b="1" kern="0" spc="30" noProof="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 · 13 October</a:t>
            </a:r>
            <a:endParaRPr lang="en-US" sz="2000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096801"/>
            <a:ext cx="999640" cy="544830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0" tIns="0" rIns="91440" bIns="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298D67BA-2C21-5A55-EDF0-3540FB645B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2550" y="7132381"/>
            <a:ext cx="478321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E6E27038-440D-8810-B766-18DAE52C2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1523" y="7756502"/>
            <a:ext cx="4806525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Platshållare för bild 11">
            <a:extLst>
              <a:ext uri="{FF2B5EF4-FFF2-40B4-BE49-F238E27FC236}">
                <a16:creationId xmlns:a16="http://schemas.microsoft.com/office/drawing/2014/main" id="{6422B0C4-9543-EC5D-2397-47A8B9D6B28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512386" y="4299576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775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21120" y="1269093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167636"/>
            <a:ext cx="1106552" cy="64698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90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resentation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09B9878-044F-D52C-99F9-F4D69E008693}"/>
              </a:ext>
            </a:extLst>
          </p:cNvPr>
          <p:cNvSpPr/>
          <p:nvPr userDrawn="1"/>
        </p:nvSpPr>
        <p:spPr>
          <a:xfrm>
            <a:off x="1274904" y="1342710"/>
            <a:ext cx="81194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WELCOME TO THE STAGE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B5CC88A-6FEE-32C9-8E79-9B185772C60F}"/>
              </a:ext>
            </a:extLst>
          </p:cNvPr>
          <p:cNvSpPr/>
          <p:nvPr userDrawn="1"/>
        </p:nvSpPr>
        <p:spPr>
          <a:xfrm>
            <a:off x="1275739" y="7462680"/>
            <a:ext cx="1409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endParaRPr lang="en-US" sz="1650" noProof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B4B50E4-3054-0683-A9F4-0293358619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4904" y="1861824"/>
            <a:ext cx="10210363" cy="931618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5400" b="1"/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6E2466C-0F4C-4050-6BA0-84CC6D349A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902" y="3249821"/>
            <a:ext cx="10210363" cy="3205349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Bio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B93E06D6-9339-0B97-BBAE-5D15B74980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4902" y="6871617"/>
            <a:ext cx="5686939" cy="444500"/>
          </a:xfrm>
        </p:spPr>
        <p:txBody>
          <a:bodyPr>
            <a:noAutofit/>
          </a:bodyPr>
          <a:lstStyle>
            <a:lvl1pPr>
              <a:buFontTx/>
              <a:buBlip>
                <a:blip r:embed="rId3"/>
              </a:buBlip>
              <a:defRPr sz="16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List social media, email and websites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18C7292-791C-FFB2-07C9-DA2DB6D289B2}"/>
              </a:ext>
            </a:extLst>
          </p:cNvPr>
          <p:cNvSpPr/>
          <p:nvPr userDrawn="1"/>
        </p:nvSpPr>
        <p:spPr>
          <a:xfrm>
            <a:off x="1235946" y="6509667"/>
            <a:ext cx="260252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Stay in touch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53469E6-A6CC-F6E9-D80E-240535F65C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4902" y="2840782"/>
            <a:ext cx="10210363" cy="361699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7" name="Platshållare för bild 11">
            <a:extLst>
              <a:ext uri="{FF2B5EF4-FFF2-40B4-BE49-F238E27FC236}">
                <a16:creationId xmlns:a16="http://schemas.microsoft.com/office/drawing/2014/main" id="{264285CA-96CC-B267-9BA1-160E5696F9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08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491473" y="1603903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TO OUR SPONSORS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A0DB5-9B9A-21A1-35E3-0AC900EB70C2}"/>
              </a:ext>
            </a:extLst>
          </p:cNvPr>
          <p:cNvSpPr/>
          <p:nvPr userDrawn="1"/>
        </p:nvSpPr>
        <p:spPr>
          <a:xfrm>
            <a:off x="992979" y="2975398"/>
            <a:ext cx="16940740" cy="1867281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C6AE3C-8154-0321-954B-ADBB26DC55CC}"/>
              </a:ext>
            </a:extLst>
          </p:cNvPr>
          <p:cNvSpPr/>
          <p:nvPr userDrawn="1"/>
        </p:nvSpPr>
        <p:spPr>
          <a:xfrm>
            <a:off x="2587931" y="5757136"/>
            <a:ext cx="13300000" cy="950000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C9B29-6174-4637-8816-D17878BB1132}"/>
              </a:ext>
            </a:extLst>
          </p:cNvPr>
          <p:cNvSpPr/>
          <p:nvPr userDrawn="1"/>
        </p:nvSpPr>
        <p:spPr>
          <a:xfrm>
            <a:off x="6814339" y="7506915"/>
            <a:ext cx="4659322" cy="603026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21758-7FA1-15E1-FC4C-6CB407272DC4}"/>
              </a:ext>
            </a:extLst>
          </p:cNvPr>
          <p:cNvSpPr/>
          <p:nvPr userDrawn="1"/>
        </p:nvSpPr>
        <p:spPr>
          <a:xfrm>
            <a:off x="6144000" y="2590088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PLATINUM</a:t>
            </a:r>
          </a:p>
          <a:p>
            <a:pPr algn="ctr">
              <a:buNone/>
            </a:pPr>
            <a:r>
              <a:rPr lang="en-US" sz="500" dirty="0">
                <a:effectLst/>
              </a:rPr>
              <a:t> </a:t>
            </a:r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C3B4-48D7-1CF6-4BF8-D0759AE5BF7C}"/>
              </a:ext>
            </a:extLst>
          </p:cNvPr>
          <p:cNvSpPr/>
          <p:nvPr userDrawn="1"/>
        </p:nvSpPr>
        <p:spPr>
          <a:xfrm>
            <a:off x="6144000" y="5327682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GOLD</a:t>
            </a:r>
          </a:p>
          <a:p>
            <a:pPr algn="ctr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E6848-99DF-EED8-5F0E-C29CBA9425A0}"/>
              </a:ext>
            </a:extLst>
          </p:cNvPr>
          <p:cNvSpPr/>
          <p:nvPr userDrawn="1"/>
        </p:nvSpPr>
        <p:spPr>
          <a:xfrm>
            <a:off x="6237931" y="7083323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SILVER</a:t>
            </a:r>
            <a:endParaRPr lang="en-US" sz="2800" dirty="0"/>
          </a:p>
        </p:txBody>
      </p:sp>
      <p:pic>
        <p:nvPicPr>
          <p:cNvPr id="10" name="Picture 9" descr="Sponsor logo">
            <a:extLst>
              <a:ext uri="{FF2B5EF4-FFF2-40B4-BE49-F238E27FC236}">
                <a16:creationId xmlns:a16="http://schemas.microsoft.com/office/drawing/2014/main" id="{C3AF70F4-2575-AD65-BFC3-347F6F55BA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3351" y="3347003"/>
            <a:ext cx="3555847" cy="1239970"/>
          </a:xfrm>
          <a:prstGeom prst="rect">
            <a:avLst/>
          </a:prstGeom>
        </p:spPr>
      </p:pic>
      <p:pic>
        <p:nvPicPr>
          <p:cNvPr id="12" name="Picture 11" descr="Sponsor logo">
            <a:extLst>
              <a:ext uri="{FF2B5EF4-FFF2-40B4-BE49-F238E27FC236}">
                <a16:creationId xmlns:a16="http://schemas.microsoft.com/office/drawing/2014/main" id="{05C29EA6-C16D-E198-E93B-FD9E8365E4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581927" y="3347004"/>
            <a:ext cx="4180806" cy="1155670"/>
          </a:xfrm>
          <a:prstGeom prst="rect">
            <a:avLst/>
          </a:prstGeom>
        </p:spPr>
      </p:pic>
      <p:pic>
        <p:nvPicPr>
          <p:cNvPr id="13" name="Picture 12" descr="Sponsor logo">
            <a:extLst>
              <a:ext uri="{FF2B5EF4-FFF2-40B4-BE49-F238E27FC236}">
                <a16:creationId xmlns:a16="http://schemas.microsoft.com/office/drawing/2014/main" id="{38444995-BE27-D5C3-823A-012F26E7E4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30576" y="5903774"/>
            <a:ext cx="2919470" cy="515469"/>
          </a:xfrm>
          <a:prstGeom prst="rect">
            <a:avLst/>
          </a:prstGeom>
        </p:spPr>
      </p:pic>
      <p:pic>
        <p:nvPicPr>
          <p:cNvPr id="14" name="Picture 13" descr="Sponsor logo">
            <a:extLst>
              <a:ext uri="{FF2B5EF4-FFF2-40B4-BE49-F238E27FC236}">
                <a16:creationId xmlns:a16="http://schemas.microsoft.com/office/drawing/2014/main" id="{7C6816DA-05B3-0AD6-E006-7428584056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81212" y="5968380"/>
            <a:ext cx="1795262" cy="625527"/>
          </a:xfrm>
          <a:prstGeom prst="rect">
            <a:avLst/>
          </a:prstGeom>
        </p:spPr>
      </p:pic>
      <p:pic>
        <p:nvPicPr>
          <p:cNvPr id="15" name="Picture 14" descr="Sponsor logo">
            <a:extLst>
              <a:ext uri="{FF2B5EF4-FFF2-40B4-BE49-F238E27FC236}">
                <a16:creationId xmlns:a16="http://schemas.microsoft.com/office/drawing/2014/main" id="{688C512E-369C-A801-9552-7B96523FC8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991275" y="5894310"/>
            <a:ext cx="2120430" cy="625527"/>
          </a:xfrm>
          <a:prstGeom prst="rect">
            <a:avLst/>
          </a:prstGeom>
        </p:spPr>
      </p:pic>
      <p:pic>
        <p:nvPicPr>
          <p:cNvPr id="16" name="Picture 15" descr="Sponsor logo">
            <a:extLst>
              <a:ext uri="{FF2B5EF4-FFF2-40B4-BE49-F238E27FC236}">
                <a16:creationId xmlns:a16="http://schemas.microsoft.com/office/drawing/2014/main" id="{F1C5261B-98E1-D0CA-A6D4-54ABA265700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226506" y="5966686"/>
            <a:ext cx="2315350" cy="594613"/>
          </a:xfrm>
          <a:prstGeom prst="rect">
            <a:avLst/>
          </a:prstGeom>
        </p:spPr>
      </p:pic>
      <p:pic>
        <p:nvPicPr>
          <p:cNvPr id="17" name="Picture 16" descr="Sponsor logo">
            <a:extLst>
              <a:ext uri="{FF2B5EF4-FFF2-40B4-BE49-F238E27FC236}">
                <a16:creationId xmlns:a16="http://schemas.microsoft.com/office/drawing/2014/main" id="{BADD4F7F-C7BB-3237-D634-3574C659D8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2884489" y="5903774"/>
            <a:ext cx="2443616" cy="594613"/>
          </a:xfrm>
          <a:prstGeom prst="rect">
            <a:avLst/>
          </a:prstGeom>
        </p:spPr>
      </p:pic>
      <p:pic>
        <p:nvPicPr>
          <p:cNvPr id="18" name="Picture 17" descr="Sponsor logo">
            <a:extLst>
              <a:ext uri="{FF2B5EF4-FFF2-40B4-BE49-F238E27FC236}">
                <a16:creationId xmlns:a16="http://schemas.microsoft.com/office/drawing/2014/main" id="{8E0A4003-B6F6-C319-B48E-CBCF1FBAF7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264635" y="7653164"/>
            <a:ext cx="1977018" cy="292598"/>
          </a:xfrm>
          <a:prstGeom prst="rect">
            <a:avLst/>
          </a:prstGeom>
        </p:spPr>
      </p:pic>
      <p:pic>
        <p:nvPicPr>
          <p:cNvPr id="19" name="Picture 18" descr="Sponsor logo">
            <a:extLst>
              <a:ext uri="{FF2B5EF4-FFF2-40B4-BE49-F238E27FC236}">
                <a16:creationId xmlns:a16="http://schemas.microsoft.com/office/drawing/2014/main" id="{3D669974-C4AD-E14A-62D8-06D96C9A9F4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486725" y="7497950"/>
            <a:ext cx="1479562" cy="624375"/>
          </a:xfrm>
          <a:prstGeom prst="rect">
            <a:avLst/>
          </a:prstGeom>
        </p:spPr>
      </p:pic>
      <p:pic>
        <p:nvPicPr>
          <p:cNvPr id="20" name="Picture 19" descr="Sponsor logo">
            <a:extLst>
              <a:ext uri="{FF2B5EF4-FFF2-40B4-BE49-F238E27FC236}">
                <a16:creationId xmlns:a16="http://schemas.microsoft.com/office/drawing/2014/main" id="{F6F60FC8-28F6-0BFD-302E-8D92B8C9AF6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49099" y="3441219"/>
            <a:ext cx="5032113" cy="1427796"/>
          </a:xfrm>
          <a:prstGeom prst="rect">
            <a:avLst/>
          </a:prstGeom>
        </p:spPr>
      </p:pic>
      <p:pic>
        <p:nvPicPr>
          <p:cNvPr id="21" name="Picture 20" descr="The image features a minimalist design with a circular shape, two black circular lines, and a white 'N' and 'R' symbol, suggesting a logo for a tech or gaming brand.&#10;&#10;AI-generated content may be incorrect.">
            <a:extLst>
              <a:ext uri="{FF2B5EF4-FFF2-40B4-BE49-F238E27FC236}">
                <a16:creationId xmlns:a16="http://schemas.microsoft.com/office/drawing/2014/main" id="{AB2DE6B2-6D4B-3E96-4485-292F93C9F89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547017" y="3058672"/>
            <a:ext cx="2469447" cy="152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16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583982" y="3226515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Questions?</a:t>
            </a:r>
            <a:endParaRPr lang="en-US" sz="1400" dirty="0"/>
          </a:p>
        </p:txBody>
      </p:sp>
      <p:pic>
        <p:nvPicPr>
          <p:cNvPr id="21" name="Picture 20" descr="The image showcases a diverse array of tech brands and services, including Robopack, Nerdio, Netnordic, ManageEngine, Coligo, FÃ¶nedeploy Cornerstone, Windows Deployment Reimagined, AscIber, and Admin, all presented in a stylized, staggered format.&#10;&#10;AI-generated content may be incorrect.">
            <a:extLst>
              <a:ext uri="{FF2B5EF4-FFF2-40B4-BE49-F238E27FC236}">
                <a16:creationId xmlns:a16="http://schemas.microsoft.com/office/drawing/2014/main" id="{04B64AB9-A989-1B82-0BF3-3908913A60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0320" y="5880415"/>
            <a:ext cx="9187359" cy="307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050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>
            <a:extLst>
              <a:ext uri="{FF2B5EF4-FFF2-40B4-BE49-F238E27FC236}">
                <a16:creationId xmlns:a16="http://schemas.microsoft.com/office/drawing/2014/main" id="{C67362BE-55D1-6890-6925-263ECDD8E0E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417937" y="8819535"/>
            <a:ext cx="3452126" cy="1467465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A506E498-7E11-9B42-6D37-2D54DEC6EF75}"/>
              </a:ext>
            </a:extLst>
          </p:cNvPr>
          <p:cNvSpPr txBox="1"/>
          <p:nvPr userDrawn="1"/>
        </p:nvSpPr>
        <p:spPr>
          <a:xfrm>
            <a:off x="6345366" y="370446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2E4CF9D-43EA-62D1-7A97-27FDDF658552}"/>
              </a:ext>
            </a:extLst>
          </p:cNvPr>
          <p:cNvSpPr txBox="1"/>
          <p:nvPr userDrawn="1"/>
        </p:nvSpPr>
        <p:spPr>
          <a:xfrm>
            <a:off x="6345366" y="360614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509CE0-ACDF-2E01-9AEE-A870B391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9F692-D162-3542-FCB0-3706E1329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30" y="2540824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1" r:id="rId4"/>
    <p:sldLayoutId id="2147483662" r:id="rId5"/>
    <p:sldLayoutId id="2147483663" r:id="rId6"/>
    <p:sldLayoutId id="2147483665" r:id="rId7"/>
    <p:sldLayoutId id="2147483667" r:id="rId8"/>
    <p:sldLayoutId id="2147483668" r:id="rId9"/>
    <p:sldLayoutId id="2147483670" r:id="rId10"/>
    <p:sldLayoutId id="2147483674" r:id="rId11"/>
    <p:sldLayoutId id="2147483675" r:id="rId12"/>
    <p:sldLayoutId id="2147483676" r:id="rId13"/>
    <p:sldLayoutId id="2147483677" r:id="rId14"/>
    <p:sldLayoutId id="2147483659" r:id="rId15"/>
    <p:sldLayoutId id="2147483683" r:id="rId16"/>
    <p:sldLayoutId id="2147483660" r:id="rId17"/>
    <p:sldLayoutId id="2147483672" r:id="rId18"/>
    <p:sldLayoutId id="2147483673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6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ts val="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ts val="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ts val="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ts val="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customXml" Target="../ink/ink2.xml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7" Type="http://schemas.openxmlformats.org/officeDocument/2006/relationships/image" Target="../media/image3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8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customXml" Target="../ink/ink7.xml"/><Relationship Id="rId18" Type="http://schemas.openxmlformats.org/officeDocument/2006/relationships/image" Target="../media/image50.png"/><Relationship Id="rId3" Type="http://schemas.openxmlformats.org/officeDocument/2006/relationships/image" Target="../media/image40.svg"/><Relationship Id="rId21" Type="http://schemas.openxmlformats.org/officeDocument/2006/relationships/image" Target="../media/image42.png"/><Relationship Id="rId7" Type="http://schemas.openxmlformats.org/officeDocument/2006/relationships/customXml" Target="../ink/ink4.xml"/><Relationship Id="rId12" Type="http://schemas.openxmlformats.org/officeDocument/2006/relationships/image" Target="../media/image47.png"/><Relationship Id="rId17" Type="http://schemas.openxmlformats.org/officeDocument/2006/relationships/customXml" Target="../ink/ink9.xml"/><Relationship Id="rId25" Type="http://schemas.openxmlformats.org/officeDocument/2006/relationships/image" Target="../media/image54.png"/><Relationship Id="rId2" Type="http://schemas.openxmlformats.org/officeDocument/2006/relationships/image" Target="../media/image39.svg"/><Relationship Id="rId16" Type="http://schemas.openxmlformats.org/officeDocument/2006/relationships/image" Target="../media/image49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11" Type="http://schemas.openxmlformats.org/officeDocument/2006/relationships/customXml" Target="../ink/ink6.xml"/><Relationship Id="rId24" Type="http://schemas.openxmlformats.org/officeDocument/2006/relationships/customXml" Target="../ink/ink12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image" Target="../media/image53.png"/><Relationship Id="rId10" Type="http://schemas.openxmlformats.org/officeDocument/2006/relationships/image" Target="../media/image46.png"/><Relationship Id="rId19" Type="http://schemas.openxmlformats.org/officeDocument/2006/relationships/customXml" Target="../ink/ink10.xml"/><Relationship Id="rId4" Type="http://schemas.openxmlformats.org/officeDocument/2006/relationships/image" Target="../media/image41.svg"/><Relationship Id="rId9" Type="http://schemas.openxmlformats.org/officeDocument/2006/relationships/customXml" Target="../ink/ink5.xml"/><Relationship Id="rId14" Type="http://schemas.openxmlformats.org/officeDocument/2006/relationships/image" Target="../media/image48.png"/><Relationship Id="rId22" Type="http://schemas.openxmlformats.org/officeDocument/2006/relationships/customXml" Target="../ink/ink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Treasure Hunting in Azure with KQL as Your Map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1388942" y="4868337"/>
            <a:ext cx="9799638" cy="1358427"/>
          </a:xfrm>
        </p:spPr>
        <p:txBody>
          <a:bodyPr/>
          <a:lstStyle/>
          <a:p>
            <a:r>
              <a:t>Kusto Query Language (KQL) combined with Azure Resource Graph provides a fast, powerful way to explore, analyze, and gain insights across your cloud environment.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Emanuel Palm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dirty="0"/>
              <a:t>Cloud Specialist </a:t>
            </a:r>
            <a:r>
              <a:rPr lang="sv-SE" dirty="0"/>
              <a:t>&amp; Microsoft MVP </a:t>
            </a:r>
            <a:r>
              <a:rPr dirty="0"/>
              <a:t>@ Unwonted</a:t>
            </a:r>
          </a:p>
        </p:txBody>
      </p:sp>
      <p:pic>
        <p:nvPicPr>
          <p:cNvPr id="3" name="Picture Placeholder 2">
            <a:extLst>
              <a:ext uri="{FF2B5EF4-FFF2-40B4-BE49-F238E27FC236}">
                <a16:creationId xmlns:a16="http://schemas.microsoft.com/office/drawing/2014/main" id="{A51F6C49-5D01-A1B8-427C-D7F286278A56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5" b="745"/>
          <a:stretch>
            <a:fillRect/>
          </a:stretch>
        </p:blipFill>
        <p:spPr>
          <a:prstGeom prst="ellipse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88409" y="1051303"/>
            <a:ext cx="2581105" cy="785695"/>
          </a:xfrm>
          <a:prstGeom prst="roundRect">
            <a:avLst/>
          </a:prstGeom>
          <a:solidFill>
            <a:srgbClr val="60B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 dirty="0">
                <a:solidFill>
                  <a:srgbClr val="1E3480"/>
                </a:solidFill>
                <a:latin typeface="Segoe UI Semibold"/>
              </a:rPr>
              <a:t>Cloud &amp; Infrastructure</a:t>
            </a:r>
            <a:endParaRPr sz="1600" dirty="0">
              <a:solidFill>
                <a:srgbClr val="1E3480"/>
              </a:solidFill>
              <a:latin typeface="Segoe UI Semi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969514" y="1282567"/>
            <a:ext cx="7254653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dirty="0">
                <a:solidFill>
                  <a:srgbClr val="E3E3E3"/>
                </a:solidFill>
                <a:latin typeface="Segoe UI"/>
              </a:rPr>
              <a:t>T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uesday</a:t>
            </a:r>
            <a:r>
              <a:rPr lang="sv-SE" sz="1500" dirty="0">
                <a:solidFill>
                  <a:srgbClr val="E3E3E3"/>
                </a:solidFill>
                <a:latin typeface="Segoe UI"/>
              </a:rPr>
              <a:t> 13 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October</a:t>
            </a:r>
            <a:endParaRPr sz="1500" dirty="0">
              <a:solidFill>
                <a:srgbClr val="E3E3E3"/>
              </a:solidFill>
              <a:latin typeface="Segoe U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FEE12-8347-5D39-99D9-D35877CE5234}"/>
              </a:ext>
            </a:extLst>
          </p:cNvPr>
          <p:cNvSpPr txBox="1">
            <a:spLocks/>
          </p:cNvSpPr>
          <p:nvPr/>
        </p:nvSpPr>
        <p:spPr>
          <a:xfrm>
            <a:off x="3306954" y="1907606"/>
            <a:ext cx="2581105" cy="1021556"/>
          </a:xfrm>
          <a:prstGeom prst="roundRect">
            <a:avLst/>
          </a:prstGeom>
          <a:solidFill>
            <a:schemeClr val="accent4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Room B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86C4B09-27B9-FC65-D9A6-C77EB4C8F2CF}"/>
              </a:ext>
            </a:extLst>
          </p:cNvPr>
          <p:cNvSpPr txBox="1">
            <a:spLocks/>
          </p:cNvSpPr>
          <p:nvPr/>
        </p:nvSpPr>
        <p:spPr>
          <a:xfrm>
            <a:off x="1388411" y="1908157"/>
            <a:ext cx="1918543" cy="9144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15:40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What’s a pirate’s favorite Azure service? 🏴‍☠️</a:t>
            </a:r>
          </a:p>
        </p:txBody>
      </p:sp>
      <p:pic>
        <p:nvPicPr>
          <p:cNvPr id="9" name="Picture 2" descr="High Quality Gives Pause Pirate Blank Meme Template">
            <a:extLst>
              <a:ext uri="{FF2B5EF4-FFF2-40B4-BE49-F238E27FC236}">
                <a16:creationId xmlns:a16="http://schemas.microsoft.com/office/drawing/2014/main" id="{1D0ED9F0-2367-3E2E-9A6B-F2A82C6B3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"/>
          <a:stretch>
            <a:fillRect/>
          </a:stretch>
        </p:blipFill>
        <p:spPr bwMode="auto">
          <a:xfrm>
            <a:off x="13835126" y="2212136"/>
            <a:ext cx="3767074" cy="3290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2">
            <a:extLst>
              <a:ext uri="{FF2B5EF4-FFF2-40B4-BE49-F238E27FC236}">
                <a16:creationId xmlns:a16="http://schemas.microsoft.com/office/drawing/2014/main" id="{E6F99858-075A-997D-66E3-98A1C4131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088" y="1928812"/>
            <a:ext cx="3353991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Oval Callout 20">
            <a:extLst>
              <a:ext uri="{FF2B5EF4-FFF2-40B4-BE49-F238E27FC236}">
                <a16:creationId xmlns:a16="http://schemas.microsoft.com/office/drawing/2014/main" id="{D93BEDC6-93EF-6770-071A-33789CF790CF}"/>
              </a:ext>
            </a:extLst>
          </p:cNvPr>
          <p:cNvSpPr/>
          <p:nvPr/>
        </p:nvSpPr>
        <p:spPr>
          <a:xfrm>
            <a:off x="4506544" y="2372460"/>
            <a:ext cx="4702910" cy="2970330"/>
          </a:xfrm>
          <a:prstGeom prst="wedgeEllipseCallout">
            <a:avLst>
              <a:gd name="adj1" fmla="val -77266"/>
              <a:gd name="adj2" fmla="val -1974"/>
            </a:avLst>
          </a:prstGeom>
          <a:solidFill>
            <a:srgbClr val="1E3480"/>
          </a:solidFill>
          <a:ln w="38100">
            <a:solidFill>
              <a:srgbClr val="ED2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BF1EAD2E-0E5A-04AB-0808-45ACB6E4D9F6}"/>
              </a:ext>
            </a:extLst>
          </p:cNvPr>
          <p:cNvSpPr txBox="1">
            <a:spLocks/>
          </p:cNvSpPr>
          <p:nvPr/>
        </p:nvSpPr>
        <p:spPr>
          <a:xfrm>
            <a:off x="3536246" y="2021421"/>
            <a:ext cx="4148811" cy="3672408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latin typeface="+mn-lt"/>
              </a:rPr>
              <a:t>A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D5CE04DE-3FA9-C3A9-3DD9-36F0BEECB87E}"/>
              </a:ext>
            </a:extLst>
          </p:cNvPr>
          <p:cNvSpPr txBox="1">
            <a:spLocks/>
          </p:cNvSpPr>
          <p:nvPr/>
        </p:nvSpPr>
        <p:spPr>
          <a:xfrm>
            <a:off x="4963911" y="2237445"/>
            <a:ext cx="3788178" cy="3240360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latin typeface="+mn-lt"/>
              </a:rPr>
              <a:t>R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00E303E2-67DF-192F-0971-490E748E4A7D}"/>
              </a:ext>
            </a:extLst>
          </p:cNvPr>
          <p:cNvSpPr txBox="1">
            <a:spLocks/>
          </p:cNvSpPr>
          <p:nvPr/>
        </p:nvSpPr>
        <p:spPr>
          <a:xfrm>
            <a:off x="6101916" y="2237445"/>
            <a:ext cx="3996444" cy="3240360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latin typeface="+mn-lt"/>
              </a:rPr>
              <a:t>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Resource Graph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Query the Azure management plane</a:t>
            </a:r>
          </a:p>
          <a:p>
            <a:pPr lvl="1"/>
            <a:r>
              <a:rPr lang="en-US" dirty="0"/>
              <a:t>Across management groups and subscriptions</a:t>
            </a:r>
          </a:p>
          <a:p>
            <a:r>
              <a:rPr lang="en-US" dirty="0"/>
              <a:t>Uses Kusto Query Language (KQL)</a:t>
            </a:r>
          </a:p>
          <a:p>
            <a:pPr lvl="1"/>
            <a:r>
              <a:rPr lang="en-US" dirty="0"/>
              <a:t>A subset of the KQL supported by</a:t>
            </a:r>
            <a:br>
              <a:rPr lang="en-US" dirty="0"/>
            </a:br>
            <a:r>
              <a:rPr lang="en-US" dirty="0">
                <a:solidFill>
                  <a:schemeClr val="bg1"/>
                </a:solidFill>
              </a:rPr>
              <a:t>	Azure Monitor/Log Analytics, Data Explorer, Sentinel</a:t>
            </a:r>
          </a:p>
          <a:p>
            <a:r>
              <a:rPr lang="en-US" dirty="0"/>
              <a:t>Based on Azure RBAC with your own permissions</a:t>
            </a:r>
          </a:p>
          <a:p>
            <a:r>
              <a:rPr lang="en-US" dirty="0"/>
              <a:t>Flexible usage through tooling</a:t>
            </a:r>
          </a:p>
          <a:p>
            <a:endParaRPr lang="en-US" dirty="0"/>
          </a:p>
        </p:txBody>
      </p:sp>
      <p:sp>
        <p:nvSpPr>
          <p:cNvPr id="7" name="Plassholder for tekst 2">
            <a:extLst>
              <a:ext uri="{FF2B5EF4-FFF2-40B4-BE49-F238E27FC236}">
                <a16:creationId xmlns:a16="http://schemas.microsoft.com/office/drawing/2014/main" id="{D1188FA5-55BB-DF4D-7E9E-4CA49B995311}"/>
              </a:ext>
            </a:extLst>
          </p:cNvPr>
          <p:cNvSpPr txBox="1">
            <a:spLocks/>
          </p:cNvSpPr>
          <p:nvPr/>
        </p:nvSpPr>
        <p:spPr>
          <a:xfrm>
            <a:off x="685800" y="2345532"/>
            <a:ext cx="12344400" cy="39957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0B1E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7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81A689-7A46-3230-2D38-46B40B2A9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4061" y="196474"/>
            <a:ext cx="3497782" cy="34977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84C4BEA-018B-8907-E531-599AAB165B87}"/>
              </a:ext>
            </a:extLst>
          </p:cNvPr>
          <p:cNvGrpSpPr/>
          <p:nvPr/>
        </p:nvGrpSpPr>
        <p:grpSpPr>
          <a:xfrm rot="21437984">
            <a:off x="1031962" y="3884364"/>
            <a:ext cx="8093582" cy="974269"/>
            <a:chOff x="4156776" y="2579638"/>
            <a:chExt cx="3130629" cy="4250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33565F-70F8-8687-81CA-B1F12A86D254}"/>
                    </a:ext>
                  </a:extLst>
                </p14:cNvPr>
                <p14:cNvContentPartPr/>
                <p14:nvPr/>
              </p14:nvContentPartPr>
              <p14:xfrm rot="21514194">
                <a:off x="4198016" y="2579638"/>
                <a:ext cx="3089389" cy="425056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256D3E-4B8D-693A-DCDD-FC475E83D1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 rot="21514194">
                  <a:off x="4181641" y="2563592"/>
                  <a:ext cx="3121812" cy="4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2D3CBB-B15B-6F7A-DE8D-BA8D1CA2061D}"/>
                    </a:ext>
                  </a:extLst>
                </p14:cNvPr>
                <p14:cNvContentPartPr/>
                <p14:nvPr/>
              </p14:nvContentPartPr>
              <p14:xfrm rot="335331">
                <a:off x="4156776" y="2635637"/>
                <a:ext cx="3098520" cy="30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0B588A-F398-639B-6997-D6EC92E5E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335331">
                  <a:off x="4140728" y="2619256"/>
                  <a:ext cx="3130943" cy="342034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  <p:bldP spid="15" grpId="1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Resource Graph Explorer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14478C5-6E9F-B888-148F-362878477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9346" y="2648846"/>
            <a:ext cx="4989308" cy="49893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F52A2B-D7EA-6990-5F98-4FF216C30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0"/>
            <a:ext cx="18574646" cy="1028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A12D-A6CF-3507-7C14-3AFD64167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5022"/>
            <a:ext cx="18574646" cy="10276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B3ECB-4CAA-0F02-05D8-412A10A3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82" y="-5024"/>
            <a:ext cx="6320540" cy="1028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09FD9C-07BB-9A6F-8512-60A77A83B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4" y="-5024"/>
            <a:ext cx="6331288" cy="10287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0FD4CF-A780-18E1-661F-B86040A782C5}"/>
              </a:ext>
            </a:extLst>
          </p:cNvPr>
          <p:cNvSpPr/>
          <p:nvPr/>
        </p:nvSpPr>
        <p:spPr>
          <a:xfrm>
            <a:off x="1824608" y="1371981"/>
            <a:ext cx="931176" cy="3267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42ED-2917-0203-B030-BF55A14BD96D}"/>
              </a:ext>
            </a:extLst>
          </p:cNvPr>
          <p:cNvSpPr/>
          <p:nvPr/>
        </p:nvSpPr>
        <p:spPr>
          <a:xfrm>
            <a:off x="12872907" y="2428612"/>
            <a:ext cx="2000774" cy="76759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boosted Azure Resource Graph Explorer</a:t>
            </a:r>
          </a:p>
        </p:txBody>
      </p:sp>
      <p:pic>
        <p:nvPicPr>
          <p:cNvPr id="16" name="Picture 4" descr="This Is Brilliant But I Like This Meme Generator - Piñata Farms - The best  meme generator and meme maker for video &amp; image memes">
            <a:extLst>
              <a:ext uri="{FF2B5EF4-FFF2-40B4-BE49-F238E27FC236}">
                <a16:creationId xmlns:a16="http://schemas.microsoft.com/office/drawing/2014/main" id="{6A31C904-A99E-D34D-E70B-4C7C48071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676" y="2300000"/>
            <a:ext cx="6440647" cy="66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CC9367BF-57A2-F5B6-9A60-BE8CF9921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74" y="3450528"/>
            <a:ext cx="1483201" cy="1483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3C9C-37D4-E7E7-F44B-75FCD17F3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15473" y="3769629"/>
            <a:ext cx="1744869" cy="965398"/>
          </a:xfrm>
          <a:prstGeom prst="rect">
            <a:avLst/>
          </a:prstGeom>
        </p:spPr>
      </p:pic>
      <p:pic>
        <p:nvPicPr>
          <p:cNvPr id="7" name="Picture 6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E094AAB9-C33C-F3C4-8ACB-07550638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32" y="6621639"/>
            <a:ext cx="1483201" cy="1483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449811-F8E8-775D-039F-401BE5657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84532" y="7082320"/>
            <a:ext cx="1744869" cy="965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boosted Azure Resource Graph Explorer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570B4F-9C27-AE55-962E-15762E0B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68" y="2875248"/>
            <a:ext cx="4536504" cy="45365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13335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167A1A-E619-61F8-1C06-BFFD18450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99"/>
          <a:stretch>
            <a:fillRect/>
          </a:stretch>
        </p:blipFill>
        <p:spPr>
          <a:xfrm>
            <a:off x="0" y="0"/>
            <a:ext cx="18288000" cy="9006840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771DB68-7942-7FFB-514C-416147739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966" y="369243"/>
            <a:ext cx="1355986" cy="1355986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250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Emanuel Palm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💙 Everything-as-Code</a:t>
            </a:r>
          </a:p>
          <a:p>
            <a:r>
              <a:rPr lang="en-US" dirty="0"/>
              <a:t>📦 Makes modules &amp; tools</a:t>
            </a:r>
          </a:p>
          <a:p>
            <a:r>
              <a:rPr lang="en-US" dirty="0"/>
              <a:t>📃 Fan of Open Source</a:t>
            </a:r>
          </a:p>
        </p:txBody>
      </p:sp>
      <p:sp>
        <p:nvSpPr>
          <p:cNvPr id="9003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Cloud Specialist @ Unwonted</a:t>
            </a:r>
          </a:p>
        </p:txBody>
      </p:sp>
      <p:pic>
        <p:nvPicPr>
          <p:cNvPr id="9004" name="Picture Placeholder 5" descr="Emanuel Palm.png"/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/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274902" y="7150000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05" name="TextBox 9004"/>
          <p:cNvSpPr txBox="1"/>
          <p:nvPr/>
        </p:nvSpPr>
        <p:spPr>
          <a:xfrm>
            <a:off x="3474902" y="7150000"/>
            <a:ext cx="264976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dirty="0">
                <a:solidFill>
                  <a:srgbClr val="E3E3E3"/>
                </a:solidFill>
                <a:latin typeface="Segoe UI"/>
              </a:rPr>
              <a:t>@</a:t>
            </a:r>
            <a:r>
              <a:rPr sz="2800" dirty="0" err="1">
                <a:solidFill>
                  <a:srgbClr val="E3E3E3"/>
                </a:solidFill>
                <a:latin typeface="Segoe UI"/>
              </a:rPr>
              <a:t>PalmEmanuel</a:t>
            </a:r>
            <a:endParaRPr sz="2800" dirty="0">
              <a:solidFill>
                <a:srgbClr val="E3E3E3"/>
              </a:solidFill>
              <a:latin typeface="Segoe UI"/>
            </a:endParaRPr>
          </a:p>
        </p:txBody>
      </p:sp>
      <p:pic>
        <p:nvPicPr>
          <p:cNvPr id="6" name="Picture 5" descr="A logo with a white cloud and a colorful circle&#10;&#10;Description automatically generated">
            <a:extLst>
              <a:ext uri="{FF2B5EF4-FFF2-40B4-BE49-F238E27FC236}">
                <a16:creationId xmlns:a16="http://schemas.microsoft.com/office/drawing/2014/main" id="{2BED39B6-1FCD-A92F-1634-0E73D80CDF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6703" y="6207943"/>
            <a:ext cx="2400000" cy="24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Ways to use Azure Resource Graph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F12977-463C-D51D-5BEE-B916CAF0A2FE}"/>
              </a:ext>
            </a:extLst>
          </p:cNvPr>
          <p:cNvGrpSpPr/>
          <p:nvPr/>
        </p:nvGrpSpPr>
        <p:grpSpPr>
          <a:xfrm>
            <a:off x="674782" y="2536034"/>
            <a:ext cx="3804504" cy="4312336"/>
            <a:chOff x="797710" y="2083666"/>
            <a:chExt cx="1287264" cy="145909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92095BB-400D-6A4D-5096-A9B7BD2FA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7710" y="2083666"/>
              <a:ext cx="1287264" cy="128726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CCFE26-E340-F241-E5F6-982B5AE6F69E}"/>
                </a:ext>
              </a:extLst>
            </p:cNvPr>
            <p:cNvSpPr txBox="1"/>
            <p:nvPr/>
          </p:nvSpPr>
          <p:spPr>
            <a:xfrm>
              <a:off x="1028373" y="3370930"/>
              <a:ext cx="82593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Azure Portal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E86A9F-1E57-3418-2367-9CAC1F8B522B}"/>
              </a:ext>
            </a:extLst>
          </p:cNvPr>
          <p:cNvGrpSpPr/>
          <p:nvPr/>
        </p:nvGrpSpPr>
        <p:grpSpPr>
          <a:xfrm>
            <a:off x="5048223" y="2276008"/>
            <a:ext cx="4304480" cy="4572362"/>
            <a:chOff x="2771800" y="1995686"/>
            <a:chExt cx="1456432" cy="1547070"/>
          </a:xfrm>
        </p:grpSpPr>
        <p:pic>
          <p:nvPicPr>
            <p:cNvPr id="13" name="Picture 12" descr="A white arrow in a blue square&#10;&#10;AI-generated content may be incorrect.">
              <a:extLst>
                <a:ext uri="{FF2B5EF4-FFF2-40B4-BE49-F238E27FC236}">
                  <a16:creationId xmlns:a16="http://schemas.microsoft.com/office/drawing/2014/main" id="{AB9450B3-9863-F0C1-42E9-E6A79B33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1800" y="1995686"/>
              <a:ext cx="1456432" cy="145643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CBABF6-6B79-A6B7-A745-C097AB0A8A07}"/>
                </a:ext>
              </a:extLst>
            </p:cNvPr>
            <p:cNvSpPr txBox="1"/>
            <p:nvPr/>
          </p:nvSpPr>
          <p:spPr>
            <a:xfrm>
              <a:off x="2970216" y="3370930"/>
              <a:ext cx="107000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PowerShell &amp; CLI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2E807E-4417-F222-21CA-482C9253DCEB}"/>
              </a:ext>
            </a:extLst>
          </p:cNvPr>
          <p:cNvGrpSpPr/>
          <p:nvPr/>
        </p:nvGrpSpPr>
        <p:grpSpPr>
          <a:xfrm>
            <a:off x="9921639" y="2536032"/>
            <a:ext cx="3458630" cy="4312338"/>
            <a:chOff x="5014728" y="2083666"/>
            <a:chExt cx="1170236" cy="145909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DF33B09-2982-428E-D4AC-3605A34E2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014728" y="2083666"/>
              <a:ext cx="1170236" cy="11962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B83655C-0E1D-766A-91ED-55D0F6772C94}"/>
                </a:ext>
              </a:extLst>
            </p:cNvPr>
            <p:cNvSpPr txBox="1"/>
            <p:nvPr/>
          </p:nvSpPr>
          <p:spPr>
            <a:xfrm>
              <a:off x="5308913" y="3370930"/>
              <a:ext cx="581866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REST API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88E0D9-C45A-69A3-913B-02260CE11241}"/>
              </a:ext>
            </a:extLst>
          </p:cNvPr>
          <p:cNvGrpSpPr/>
          <p:nvPr/>
        </p:nvGrpSpPr>
        <p:grpSpPr>
          <a:xfrm>
            <a:off x="13949205" y="2658699"/>
            <a:ext cx="3535484" cy="4186460"/>
            <a:chOff x="6971460" y="2124115"/>
            <a:chExt cx="1196240" cy="1416499"/>
          </a:xfrm>
        </p:grpSpPr>
        <p:pic>
          <p:nvPicPr>
            <p:cNvPr id="19" name="Picture 18" descr="A blue ribbon with a black background&#10;&#10;AI-generated content may be incorrect.">
              <a:extLst>
                <a:ext uri="{FF2B5EF4-FFF2-40B4-BE49-F238E27FC236}">
                  <a16:creationId xmlns:a16="http://schemas.microsoft.com/office/drawing/2014/main" id="{29D97899-92B9-B5A3-BF40-1CDA2A4A4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71460" y="2124115"/>
              <a:ext cx="1196240" cy="119624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5A32BE-E178-150C-C52A-15FF0F389D39}"/>
                </a:ext>
              </a:extLst>
            </p:cNvPr>
            <p:cNvSpPr txBox="1"/>
            <p:nvPr/>
          </p:nvSpPr>
          <p:spPr>
            <a:xfrm>
              <a:off x="7309156" y="3368788"/>
              <a:ext cx="520848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VS Code</a:t>
              </a:r>
            </a:p>
          </p:txBody>
        </p:sp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C47671CC-F3AC-1C1B-6F8D-B88BF11F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3540" y="3613810"/>
            <a:ext cx="1612808" cy="1612808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ARG KQL Syntax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93920B6-9317-2F89-DF5F-4A7734913D84}"/>
              </a:ext>
            </a:extLst>
          </p:cNvPr>
          <p:cNvSpPr txBox="1">
            <a:spLocks/>
          </p:cNvSpPr>
          <p:nvPr/>
        </p:nvSpPr>
        <p:spPr>
          <a:xfrm>
            <a:off x="3155745" y="1697157"/>
            <a:ext cx="7551632" cy="45372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0B1E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4200" dirty="0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Tables</a:t>
            </a:r>
          </a:p>
          <a:p>
            <a:r>
              <a:rPr lang="en-US" sz="3000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r>
              <a:rPr lang="en-US" sz="3000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ResourceContainers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AuthorizationResources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PolicyResources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471E331-261B-6E30-8921-C8C32EC97D13}"/>
              </a:ext>
            </a:extLst>
          </p:cNvPr>
          <p:cNvSpPr txBox="1">
            <a:spLocks/>
          </p:cNvSpPr>
          <p:nvPr/>
        </p:nvSpPr>
        <p:spPr>
          <a:xfrm>
            <a:off x="10346704" y="1697157"/>
            <a:ext cx="5510516" cy="408399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Functions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tostring</a:t>
            </a: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isnotempty</a:t>
            </a: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rand()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  <a:endParaRPr lang="en-US" sz="42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>
              <a:buClr>
                <a:srgbClr val="336297"/>
              </a:buClr>
              <a:buFont typeface="Wingdings" pitchFamily="2" charset="2"/>
              <a:buChar char="§"/>
            </a:pPr>
            <a:endParaRPr lang="en-US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D59274-799D-724D-7DA5-C07DCB8C06E8}"/>
              </a:ext>
            </a:extLst>
          </p:cNvPr>
          <p:cNvSpPr txBox="1">
            <a:spLocks/>
          </p:cNvSpPr>
          <p:nvPr/>
        </p:nvSpPr>
        <p:spPr>
          <a:xfrm>
            <a:off x="10346704" y="5951762"/>
            <a:ext cx="5510516" cy="427065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Keywords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or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by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on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0BB2FBE-9295-DA88-F049-B41BDCFABF71}"/>
              </a:ext>
            </a:extLst>
          </p:cNvPr>
          <p:cNvSpPr txBox="1">
            <a:spLocks/>
          </p:cNvSpPr>
          <p:nvPr/>
        </p:nvSpPr>
        <p:spPr>
          <a:xfrm>
            <a:off x="3155745" y="5903636"/>
            <a:ext cx="7551632" cy="4537294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Operators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project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FCC4C-EE4D-B2E9-A45A-107EA3DEDDAA}"/>
              </a:ext>
            </a:extLst>
          </p:cNvPr>
          <p:cNvSpPr txBox="1"/>
          <p:nvPr/>
        </p:nvSpPr>
        <p:spPr>
          <a:xfrm>
            <a:off x="3489764" y="2438882"/>
            <a:ext cx="2891164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</a:t>
            </a:r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8C4466-5F2F-5765-4BB0-CD0B559C1FCA}"/>
              </a:ext>
            </a:extLst>
          </p:cNvPr>
          <p:cNvSpPr txBox="1"/>
          <p:nvPr/>
        </p:nvSpPr>
        <p:spPr>
          <a:xfrm>
            <a:off x="3506092" y="6646155"/>
            <a:ext cx="1785424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where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8219C-0E76-A093-C455-0297B2C0FA1D}"/>
              </a:ext>
            </a:extLst>
          </p:cNvPr>
          <p:cNvSpPr txBox="1"/>
          <p:nvPr/>
        </p:nvSpPr>
        <p:spPr>
          <a:xfrm>
            <a:off x="3506092" y="7229991"/>
            <a:ext cx="2697730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contains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C1DECA-60E5-0169-A2F5-8B4DF17E9BC4}"/>
              </a:ext>
            </a:extLst>
          </p:cNvPr>
          <p:cNvSpPr txBox="1"/>
          <p:nvPr/>
        </p:nvSpPr>
        <p:spPr>
          <a:xfrm>
            <a:off x="10686734" y="4053668"/>
            <a:ext cx="2559652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not(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F5168-A38C-7028-CA4F-8EB04A7BC36B}"/>
              </a:ext>
            </a:extLst>
          </p:cNvPr>
          <p:cNvSpPr txBox="1"/>
          <p:nvPr/>
        </p:nvSpPr>
        <p:spPr>
          <a:xfrm>
            <a:off x="11596264" y="4053668"/>
            <a:ext cx="1096862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)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0B3-EFFA-DA9C-1C40-E148DA43CCBB}"/>
              </a:ext>
            </a:extLst>
          </p:cNvPr>
          <p:cNvSpPr txBox="1"/>
          <p:nvPr/>
        </p:nvSpPr>
        <p:spPr>
          <a:xfrm>
            <a:off x="10707375" y="6680157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E1D9F-4F18-436A-F000-E65B6DF1DCD4}"/>
              </a:ext>
            </a:extLst>
          </p:cNvPr>
          <p:cNvSpPr txBox="1"/>
          <p:nvPr/>
        </p:nvSpPr>
        <p:spPr>
          <a:xfrm>
            <a:off x="10707376" y="6678812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0B1E3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5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8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1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7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0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3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1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4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7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0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3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9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build="p"/>
      <p:bldP spid="6" grpId="0" uiExpand="1" build="p"/>
      <p:bldP spid="6" grpId="1" uiExpand="1" build="allAtOnce"/>
      <p:bldP spid="7" grpId="0" uiExpand="1" build="p"/>
      <p:bldP spid="22" grpId="0" uiExpand="1" build="p"/>
      <p:bldP spid="22" grpId="1" build="allAtOnce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Query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228FD-9E50-809B-F4A0-232256010571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6E20C-5B9A-C4E4-0442-7F4292718D3E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17254-70A3-799B-094E-AF52AD1A647E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98F53-D7AB-98F0-5C30-E141ED643214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8473F-63CF-A3EF-136D-12D4CD5E03F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0DC26-E20F-A81E-B37E-77B421B34BA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9427A-2D03-C14B-B8C5-E945452C3956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C95B5-AD4E-A2E1-8E4A-1CCD25C07EC4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2D776B-EFB1-F739-8539-4BB1FBB7F74F}"/>
              </a:ext>
            </a:extLst>
          </p:cNvPr>
          <p:cNvSpPr/>
          <p:nvPr/>
        </p:nvSpPr>
        <p:spPr>
          <a:xfrm>
            <a:off x="2119764" y="4121097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Query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2F058C-C8BA-328F-C80A-57C857F92933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5BF316-40C9-F5CB-11BB-3F8D01C89078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2DF33-5442-59DC-326A-F5115D7BAE0A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528D5-6E0F-4C48-7AE7-892D41AF4846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EA6A5-0D22-D5B2-50C1-76EC16E398C8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ADD74D-3462-8918-08EF-BFD9EA7C8D56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2F5E15-9CF2-D207-D8FA-882FF68A3DD2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1EE222-2974-7BF6-0930-94395AC57FFA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EEC8FC-3E71-3FFF-FFBC-E6D69B8D4DD4}"/>
              </a:ext>
            </a:extLst>
          </p:cNvPr>
          <p:cNvSpPr/>
          <p:nvPr/>
        </p:nvSpPr>
        <p:spPr>
          <a:xfrm>
            <a:off x="2119764" y="4890318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579806-532D-E745-8F49-50083F4AFD2D}"/>
              </a:ext>
            </a:extLst>
          </p:cNvPr>
          <p:cNvSpPr/>
          <p:nvPr/>
        </p:nvSpPr>
        <p:spPr>
          <a:xfrm>
            <a:off x="2119764" y="3140235"/>
            <a:ext cx="13737454" cy="10096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Query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9002" name="TextBox 9001"/>
          <p:cNvSpPr txBox="1"/>
          <p:nvPr/>
        </p:nvSpPr>
        <p:spPr>
          <a:xfrm>
            <a:off x="2200000" y="3400000"/>
            <a:ext cx="14000000" cy="310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3400">
                <a:solidFill>
                  <a:srgbClr val="569CD6"/>
                </a:solidFill>
                <a:latin typeface="Cascadia Code"/>
              </a:rPr>
              <a:t>Resources</a:t>
            </a:r>
          </a:p>
          <a:p>
            <a:r>
              <a:rPr sz="3400">
                <a:solidFill>
                  <a:srgbClr val="8C8C8C"/>
                </a:solidFill>
                <a:latin typeface="Cascadia Code"/>
              </a:rPr>
              <a:t>| </a:t>
            </a:r>
            <a:r>
              <a:rPr sz="3400">
                <a:solidFill>
                  <a:srgbClr val="C586C0"/>
                </a:solidFill>
                <a:latin typeface="Cascadia Code"/>
              </a:rPr>
              <a:t>where </a:t>
            </a:r>
            <a:r>
              <a:rPr sz="3400">
                <a:solidFill>
                  <a:srgbClr val="569CD6"/>
                </a:solidFill>
                <a:latin typeface="Cascadia Code"/>
              </a:rPr>
              <a:t>type</a:t>
            </a:r>
            <a:r>
              <a:rPr sz="3400">
                <a:solidFill>
                  <a:srgbClr val="E3E3E3"/>
                </a:solidFill>
                <a:latin typeface="Cascadia Code"/>
              </a:rPr>
              <a:t> == </a:t>
            </a:r>
            <a:r>
              <a:rPr sz="3400">
                <a:solidFill>
                  <a:srgbClr val="CE9178"/>
                </a:solidFill>
                <a:latin typeface="Cascadia Code"/>
              </a:rPr>
              <a:t>'microsoft.keyvault/vaults'</a:t>
            </a:r>
          </a:p>
          <a:p>
            <a:r>
              <a:rPr sz="3400">
                <a:solidFill>
                  <a:srgbClr val="8C8C8C"/>
                </a:solidFill>
                <a:latin typeface="Cascadia Code"/>
              </a:rPr>
              <a:t>| </a:t>
            </a:r>
            <a:r>
              <a:rPr sz="3400">
                <a:solidFill>
                  <a:srgbClr val="C586C0"/>
                </a:solidFill>
                <a:latin typeface="Cascadia Code"/>
              </a:rPr>
              <a:t>and </a:t>
            </a:r>
            <a:r>
              <a:rPr sz="3400">
                <a:solidFill>
                  <a:srgbClr val="569CD6"/>
                </a:solidFill>
                <a:latin typeface="Cascadia Code"/>
              </a:rPr>
              <a:t>name </a:t>
            </a:r>
            <a:r>
              <a:rPr sz="3400">
                <a:solidFill>
                  <a:srgbClr val="C586C0"/>
                </a:solidFill>
                <a:latin typeface="Cascadia Code"/>
              </a:rPr>
              <a:t>contains </a:t>
            </a:r>
            <a:r>
              <a:rPr sz="3400">
                <a:solidFill>
                  <a:srgbClr val="CE9178"/>
                </a:solidFill>
                <a:latin typeface="Cascadia Code"/>
              </a:rPr>
              <a:t>'kv'</a:t>
            </a:r>
          </a:p>
          <a:p>
            <a:r>
              <a:rPr sz="3400">
                <a:solidFill>
                  <a:srgbClr val="8C8C8C"/>
                </a:solidFill>
                <a:latin typeface="Cascadia Code"/>
              </a:rPr>
              <a:t>| </a:t>
            </a:r>
            <a:r>
              <a:rPr sz="3400">
                <a:solidFill>
                  <a:srgbClr val="C586C0"/>
                </a:solidFill>
                <a:latin typeface="Cascadia Code"/>
              </a:rPr>
              <a:t>and not(</a:t>
            </a:r>
            <a:r>
              <a:rPr sz="3400">
                <a:solidFill>
                  <a:srgbClr val="569CD6"/>
                </a:solidFill>
                <a:latin typeface="Cascadia Code"/>
              </a:rPr>
              <a:t>tags</a:t>
            </a:r>
            <a:r>
              <a:rPr sz="3400">
                <a:solidFill>
                  <a:srgbClr val="CE9178"/>
                </a:solidFill>
                <a:latin typeface="Cascadia Code"/>
              </a:rPr>
              <a:t>['env']</a:t>
            </a:r>
            <a:r>
              <a:rPr sz="3400">
                <a:solidFill>
                  <a:srgbClr val="E3E3E3"/>
                </a:solidFill>
                <a:latin typeface="Cascadia Code"/>
              </a:rPr>
              <a:t> == </a:t>
            </a:r>
            <a:r>
              <a:rPr sz="3400">
                <a:solidFill>
                  <a:srgbClr val="CE9178"/>
                </a:solidFill>
                <a:latin typeface="Cascadia Code"/>
              </a:rPr>
              <a:t>'prod'</a:t>
            </a:r>
            <a:r>
              <a:rPr sz="3400">
                <a:solidFill>
                  <a:srgbClr val="E3E3E3"/>
                </a:solidFill>
                <a:latin typeface="Cascadia Code"/>
              </a:rPr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Querying ARG – Setting sail!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Sharing 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468FA-01F5-13F7-232E-4B32C6B76334}"/>
              </a:ext>
            </a:extLst>
          </p:cNvPr>
          <p:cNvSpPr txBox="1"/>
          <p:nvPr/>
        </p:nvSpPr>
        <p:spPr>
          <a:xfrm>
            <a:off x="2391386" y="8663788"/>
            <a:ext cx="1350282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Microsoft.OperationalInsights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</a:t>
            </a:r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queryPacks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1F0E49-803D-FF1D-7248-72AE54830FEB}"/>
              </a:ext>
            </a:extLst>
          </p:cNvPr>
          <p:cNvGrpSpPr/>
          <p:nvPr/>
        </p:nvGrpSpPr>
        <p:grpSpPr>
          <a:xfrm>
            <a:off x="1657803" y="2733512"/>
            <a:ext cx="3828477" cy="4045378"/>
            <a:chOff x="1171679" y="1863610"/>
            <a:chExt cx="1688565" cy="1823004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B70D04A-6D2D-05C8-F60E-77946724C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8296" y="1863610"/>
              <a:ext cx="1451948" cy="14519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9A407A-F0AE-419D-DC5F-E520C04F6380}"/>
                </a:ext>
              </a:extLst>
            </p:cNvPr>
            <p:cNvSpPr txBox="1"/>
            <p:nvPr/>
          </p:nvSpPr>
          <p:spPr>
            <a:xfrm>
              <a:off x="1171679" y="2958460"/>
              <a:ext cx="1235756" cy="7281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Resource Graph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Queries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endPara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98FB22C-A881-CF0C-1CCC-22CC9F7A0F17}"/>
              </a:ext>
            </a:extLst>
          </p:cNvPr>
          <p:cNvSpPr txBox="1"/>
          <p:nvPr/>
        </p:nvSpPr>
        <p:spPr>
          <a:xfrm>
            <a:off x="4710672" y="8148609"/>
            <a:ext cx="886886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Microsoft.ResourceGraph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92FD33-FD18-F43C-1197-D2C690AA66E2}"/>
              </a:ext>
            </a:extLst>
          </p:cNvPr>
          <p:cNvGrpSpPr/>
          <p:nvPr/>
        </p:nvGrpSpPr>
        <p:grpSpPr>
          <a:xfrm>
            <a:off x="7741938" y="2533944"/>
            <a:ext cx="2801728" cy="3049604"/>
            <a:chOff x="3954143" y="1808306"/>
            <a:chExt cx="1235714" cy="137427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89F292-0761-C6DA-AD60-6CF275050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95936" y="1808306"/>
              <a:ext cx="1152128" cy="115212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003453-41EA-42CA-FDE5-ECC7A40B0D34}"/>
                </a:ext>
              </a:extLst>
            </p:cNvPr>
            <p:cNvSpPr txBox="1"/>
            <p:nvPr/>
          </p:nvSpPr>
          <p:spPr>
            <a:xfrm>
              <a:off x="3954143" y="2953728"/>
              <a:ext cx="1235714" cy="228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Git Repository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6E7C54-3AA0-61DC-C093-D97D37B6A1A7}"/>
              </a:ext>
            </a:extLst>
          </p:cNvPr>
          <p:cNvGrpSpPr/>
          <p:nvPr/>
        </p:nvGrpSpPr>
        <p:grpSpPr>
          <a:xfrm>
            <a:off x="13154834" y="2198271"/>
            <a:ext cx="2830244" cy="3647206"/>
            <a:chOff x="6612151" y="1705438"/>
            <a:chExt cx="1248290" cy="1643573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18E3B83-AF77-B765-FE3F-5EDEC7158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12151" y="1705438"/>
              <a:ext cx="1248290" cy="124829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4AA400-1496-06AB-A911-FC4969995B04}"/>
                </a:ext>
              </a:extLst>
            </p:cNvPr>
            <p:cNvSpPr txBox="1"/>
            <p:nvPr/>
          </p:nvSpPr>
          <p:spPr>
            <a:xfrm>
              <a:off x="6658209" y="2953728"/>
              <a:ext cx="1156175" cy="3952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Log Analytics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Query Packs *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5B369D-5C85-40EB-9271-C78C068679CC}"/>
              </a:ext>
            </a:extLst>
          </p:cNvPr>
          <p:cNvSpPr txBox="1"/>
          <p:nvPr/>
        </p:nvSpPr>
        <p:spPr>
          <a:xfrm>
            <a:off x="7570524" y="7647574"/>
            <a:ext cx="314455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.KQL files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071D5C-F724-425A-009A-E45D71D07B46}"/>
              </a:ext>
            </a:extLst>
          </p:cNvPr>
          <p:cNvSpPr txBox="1"/>
          <p:nvPr/>
        </p:nvSpPr>
        <p:spPr>
          <a:xfrm>
            <a:off x="16389220" y="0"/>
            <a:ext cx="1898780" cy="877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*</a:t>
            </a:r>
            <a:r>
              <a:rPr lang="en-US" sz="4800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ish</a:t>
            </a:r>
            <a:endParaRPr lang="en-US" sz="4800" dirty="0">
              <a:solidFill>
                <a:srgbClr val="60B1E3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BFAE3-3978-9ACD-A98D-F3590CA45896}"/>
              </a:ext>
            </a:extLst>
          </p:cNvPr>
          <p:cNvGrpSpPr/>
          <p:nvPr/>
        </p:nvGrpSpPr>
        <p:grpSpPr>
          <a:xfrm>
            <a:off x="3709755" y="5961108"/>
            <a:ext cx="2413402" cy="2587053"/>
            <a:chOff x="2025326" y="3469392"/>
            <a:chExt cx="908469" cy="93863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14:cNvPr>
                <p14:cNvContentPartPr/>
                <p14:nvPr/>
              </p14:nvContentPartPr>
              <p14:xfrm rot="21010720">
                <a:off x="2025326" y="3469392"/>
                <a:ext cx="808294" cy="938631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21010720">
                  <a:off x="2015164" y="3459592"/>
                  <a:ext cx="828415" cy="9580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14:cNvPr>
                <p14:cNvContentPartPr/>
                <p14:nvPr/>
              </p14:nvContentPartPr>
              <p14:xfrm>
                <a:off x="2686115" y="4182337"/>
                <a:ext cx="24768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75948" y="4172538"/>
                  <a:ext cx="267812" cy="182841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999AA0-22B7-68E7-B195-0CC584967B7F}"/>
              </a:ext>
            </a:extLst>
          </p:cNvPr>
          <p:cNvGrpSpPr/>
          <p:nvPr/>
        </p:nvGrpSpPr>
        <p:grpSpPr>
          <a:xfrm>
            <a:off x="13621966" y="6115764"/>
            <a:ext cx="772786" cy="2574390"/>
            <a:chOff x="7107123" y="3450270"/>
            <a:chExt cx="340841" cy="116012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14:cNvPr>
                <p14:cNvContentPartPr/>
                <p14:nvPr/>
              </p14:nvContentPartPr>
              <p14:xfrm>
                <a:off x="7138082" y="3450270"/>
                <a:ext cx="309882" cy="1111881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26163" y="3438102"/>
                  <a:ext cx="333481" cy="1135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103CBC-9436-74C9-49BF-D00168B47B67}"/>
                    </a:ext>
                  </a:extLst>
                </p14:cNvPr>
                <p14:cNvContentPartPr/>
                <p14:nvPr/>
              </p14:nvContentPartPr>
              <p14:xfrm>
                <a:off x="7107123" y="4418871"/>
                <a:ext cx="195840" cy="191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9096A37-6359-08EA-17B6-8343312B151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9123" y="4401231"/>
                  <a:ext cx="2314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2672D3-17DA-3699-E5B7-65E38BEF6389}"/>
              </a:ext>
            </a:extLst>
          </p:cNvPr>
          <p:cNvGrpSpPr/>
          <p:nvPr/>
        </p:nvGrpSpPr>
        <p:grpSpPr>
          <a:xfrm>
            <a:off x="8945932" y="5875719"/>
            <a:ext cx="475044" cy="1366542"/>
            <a:chOff x="4595469" y="3357000"/>
            <a:chExt cx="209520" cy="61581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14:cNvPr>
                <p14:cNvContentPartPr/>
                <p14:nvPr/>
              </p14:nvContentPartPr>
              <p14:xfrm>
                <a:off x="4675680" y="3357000"/>
                <a:ext cx="2160" cy="579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63680" y="3344831"/>
                  <a:ext cx="25920" cy="60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14:cNvPr>
                <p14:cNvContentPartPr/>
                <p14:nvPr/>
              </p14:nvContentPartPr>
              <p14:xfrm>
                <a:off x="4595469" y="3834938"/>
                <a:ext cx="209520" cy="13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83551" y="3822758"/>
                  <a:ext cx="233118" cy="1619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A989D59-607C-6AFE-1403-69C56BE10C3D}"/>
              </a:ext>
            </a:extLst>
          </p:cNvPr>
          <p:cNvGrpSpPr/>
          <p:nvPr/>
        </p:nvGrpSpPr>
        <p:grpSpPr>
          <a:xfrm>
            <a:off x="9665866" y="5001330"/>
            <a:ext cx="3445932" cy="3606324"/>
            <a:chOff x="5096631" y="3008619"/>
            <a:chExt cx="1519842" cy="162515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14:cNvPr>
                <p14:cNvContentPartPr/>
                <p14:nvPr/>
              </p14:nvContentPartPr>
              <p14:xfrm rot="926643">
                <a:off x="5096631" y="3008619"/>
                <a:ext cx="1519842" cy="1403406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 rot="926643">
                  <a:off x="5084722" y="2996451"/>
                  <a:ext cx="1543422" cy="14274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14:cNvPr>
                <p14:cNvContentPartPr/>
                <p14:nvPr/>
              </p14:nvContentPartPr>
              <p14:xfrm rot="531316">
                <a:off x="6291751" y="4426240"/>
                <a:ext cx="231725" cy="207529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 rot="531316">
                  <a:off x="6279831" y="4414305"/>
                  <a:ext cx="255327" cy="231643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0" name="Picture 2" descr="Bicep for Visual Studio">
              <a:extLst>
                <a:ext uri="{FF2B5EF4-FFF2-40B4-BE49-F238E27FC236}">
                  <a16:creationId xmlns:a16="http://schemas.microsoft.com/office/drawing/2014/main" id="{59A70351-551F-A8E7-6009-CB3386080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2477" y="3330823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33672F-AA1E-51FB-31F1-E7593F7A78AB}"/>
              </a:ext>
            </a:extLst>
          </p:cNvPr>
          <p:cNvGrpSpPr/>
          <p:nvPr/>
        </p:nvGrpSpPr>
        <p:grpSpPr>
          <a:xfrm>
            <a:off x="9827748" y="5849126"/>
            <a:ext cx="1151696" cy="2111403"/>
            <a:chOff x="4942403" y="3359910"/>
            <a:chExt cx="507960" cy="95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14:cNvPr>
                <p14:cNvContentPartPr/>
                <p14:nvPr/>
              </p14:nvContentPartPr>
              <p14:xfrm>
                <a:off x="4942403" y="3359910"/>
                <a:ext cx="435960" cy="90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30492" y="3347740"/>
                  <a:ext cx="459545" cy="9334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14:cNvPr>
                <p14:cNvContentPartPr/>
                <p14:nvPr/>
              </p14:nvContentPartPr>
              <p14:xfrm>
                <a:off x="5276483" y="4148670"/>
                <a:ext cx="173880" cy="16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64573" y="4136490"/>
                  <a:ext cx="197461" cy="186836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4" name="Picture 2" descr="Bicep for Visual Studio">
              <a:extLst>
                <a:ext uri="{FF2B5EF4-FFF2-40B4-BE49-F238E27FC236}">
                  <a16:creationId xmlns:a16="http://schemas.microsoft.com/office/drawing/2014/main" id="{1F38DD4C-36ED-5394-F29C-0C7D77F790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7595" y="3617935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6" grpId="0"/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Tips &amp; Tricks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Resources</a:t>
            </a:r>
            <a:r>
              <a:rPr lang="en-US" dirty="0"/>
              <a:t> table is the default, no need to specify it</a:t>
            </a:r>
          </a:p>
          <a:p>
            <a:r>
              <a:rPr lang="en-US" dirty="0"/>
              <a:t>Hidden </a:t>
            </a:r>
            <a:r>
              <a:rPr lang="en-US" dirty="0" err="1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SystemData</a:t>
            </a:r>
            <a:r>
              <a:rPr lang="en-US" dirty="0"/>
              <a:t> property for resource metadata</a:t>
            </a:r>
          </a:p>
          <a:p>
            <a:pPr lvl="1"/>
            <a:r>
              <a:rPr lang="en-US" dirty="0"/>
              <a:t>If supported by the resource – Check API version</a:t>
            </a:r>
          </a:p>
          <a:p>
            <a:r>
              <a:rPr lang="en-US" dirty="0"/>
              <a:t>Shared queries can be used inside queries with </a:t>
            </a:r>
            <a:r>
              <a:rPr lang="en-US" b="1" dirty="0">
                <a:ea typeface="Cascadia Code" panose="020B0609020000020004" pitchFamily="34" charset="0"/>
                <a:cs typeface="Cascadia Code" panose="020B0609020000020004" pitchFamily="34" charset="0"/>
              </a:rPr>
              <a:t>{{ }}</a:t>
            </a:r>
            <a:r>
              <a:rPr lang="en-US" dirty="0"/>
              <a:t> syntax</a:t>
            </a:r>
          </a:p>
          <a:p>
            <a:r>
              <a:rPr lang="en-US" dirty="0"/>
              <a:t>You can use ARG from Log Analytics with </a:t>
            </a:r>
            <a:r>
              <a:rPr lang="en-US" dirty="0" err="1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arg</a:t>
            </a:r>
            <a:r>
              <a:rPr lang="en-US" dirty="0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(“”).Resources</a:t>
            </a:r>
          </a:p>
          <a:p>
            <a:pPr lvl="1"/>
            <a:r>
              <a:rPr lang="en-US" dirty="0"/>
              <a:t>But not yet* with </a:t>
            </a:r>
            <a:r>
              <a:rPr lang="en-US" dirty="0" err="1"/>
              <a:t>bARGE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Alerts with Azure Resource Graph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Don’t forget Azure Policy</a:t>
            </a:r>
          </a:p>
          <a:p>
            <a:pPr lvl="1"/>
            <a:r>
              <a:rPr lang="en-US" dirty="0"/>
              <a:t>Alerts are </a:t>
            </a:r>
            <a:r>
              <a:rPr lang="en-US" b="1" dirty="0"/>
              <a:t>reactive</a:t>
            </a:r>
          </a:p>
          <a:p>
            <a:r>
              <a:rPr lang="en-US" dirty="0"/>
              <a:t>Examples of potentially interesting ARG alerts</a:t>
            </a:r>
          </a:p>
          <a:p>
            <a:pPr lvl="1"/>
            <a:r>
              <a:rPr lang="en-US" dirty="0"/>
              <a:t>FinOps – Someone creates </a:t>
            </a:r>
            <a:r>
              <a:rPr lang="en-US" b="1" dirty="0"/>
              <a:t>allowed</a:t>
            </a:r>
            <a:r>
              <a:rPr lang="en-US" dirty="0"/>
              <a:t>, but high-cost resources</a:t>
            </a:r>
          </a:p>
          <a:p>
            <a:pPr lvl="1"/>
            <a:r>
              <a:rPr lang="en-US" dirty="0"/>
              <a:t>Operational – </a:t>
            </a:r>
            <a:r>
              <a:rPr lang="en-US" b="1" dirty="0" err="1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ResourceChanges</a:t>
            </a:r>
            <a:r>
              <a:rPr lang="en-US" dirty="0"/>
              <a:t> in sensitive scopes</a:t>
            </a:r>
          </a:p>
          <a:p>
            <a:pPr lvl="1"/>
            <a:r>
              <a:rPr lang="en-US" dirty="0"/>
              <a:t>Security – Resource-related events, permissions and roles</a:t>
            </a:r>
          </a:p>
          <a:p>
            <a:r>
              <a:rPr lang="en-US" dirty="0"/>
              <a:t>Alerts need access permissions for ARG</a:t>
            </a:r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Cannot </a:t>
            </a:r>
            <a:r>
              <a:rPr lang="en-US" b="1" dirty="0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  <a:r>
              <a:rPr lang="en-US" dirty="0"/>
              <a:t> multiple ARG tables, </a:t>
            </a:r>
            <a:r>
              <a:rPr lang="en-US" b="1" dirty="0"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union</a:t>
            </a:r>
            <a:r>
              <a:rPr lang="en-US" dirty="0"/>
              <a:t> works</a:t>
            </a:r>
          </a:p>
          <a:p>
            <a:pPr lvl="1"/>
            <a:r>
              <a:rPr lang="en-US" dirty="0"/>
              <a:t>Only 1000 records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7E2F2E-49D6-6708-539F-2A0E08193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52046" y="547688"/>
            <a:ext cx="3138488" cy="31384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6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9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5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2"/>
      <p:bldP spid="13" grpId="1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Alerts with ARG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A6603F1-CFDA-1273-44F9-F88C5D69346E}"/>
              </a:ext>
            </a:extLst>
          </p:cNvPr>
          <p:cNvSpPr txBox="1">
            <a:spLocks/>
          </p:cNvSpPr>
          <p:nvPr/>
        </p:nvSpPr>
        <p:spPr>
          <a:xfrm>
            <a:off x="1257300" y="1909436"/>
            <a:ext cx="14727766" cy="39957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0B1E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1000 records per query response</a:t>
            </a:r>
          </a:p>
          <a:p>
            <a:pPr lvl="1"/>
            <a:r>
              <a:rPr lang="en-US" dirty="0">
                <a:solidFill>
                  <a:srgbClr val="60B1E3"/>
                </a:solidFill>
              </a:rPr>
              <a:t>Implement pagination</a:t>
            </a:r>
          </a:p>
          <a:p>
            <a:r>
              <a:rPr lang="en-US" dirty="0"/>
              <a:t>      15 queries /     5 seconds /     User</a:t>
            </a:r>
            <a:endParaRPr lang="en-US" sz="4800" dirty="0"/>
          </a:p>
          <a:p>
            <a:pPr lvl="1"/>
            <a:r>
              <a:rPr lang="en-US" sz="4200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x-</a:t>
            </a:r>
            <a:r>
              <a:rPr lang="en-US" sz="4200" dirty="0" err="1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ms</a:t>
            </a:r>
            <a:r>
              <a:rPr lang="en-US" sz="4200" dirty="0">
                <a:solidFill>
                  <a:srgbClr val="60B1E3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-user-quota-remaining</a:t>
            </a:r>
            <a:endParaRPr lang="en-US" sz="4200" dirty="0">
              <a:solidFill>
                <a:srgbClr val="60B1E3"/>
              </a:solidFill>
            </a:endParaRPr>
          </a:p>
          <a:p>
            <a:r>
              <a:rPr lang="en-US" dirty="0"/>
              <a:t>10 000 subscriptions limit for wide queries</a:t>
            </a:r>
          </a:p>
          <a:p>
            <a:pPr lvl="1"/>
            <a:endParaRPr lang="en-US" dirty="0"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3B5D3AA-5A39-98F4-0D97-CA0F74A7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45820" y="3709989"/>
            <a:ext cx="561414" cy="5614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3EC4357-6F93-A339-0C66-B346ED356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00983" y="3709990"/>
            <a:ext cx="559659" cy="55965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2E7C19F-A959-A0BB-60F6-643453C5C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3104" y="3709989"/>
            <a:ext cx="559660" cy="5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ARG GET/LIST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50000" y="2350000"/>
            <a:ext cx="12500000" cy="260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400">
                <a:solidFill>
                  <a:srgbClr val="E3E3E3"/>
                </a:solidFill>
                <a:latin typeface="Segoe UI Light"/>
              </a:rPr>
              <a:t>4,000 queries per minute, per user, per subscription</a:t>
            </a:r>
          </a:p>
          <a:p>
            <a:r>
              <a:rPr sz="2400">
                <a:solidFill>
                  <a:srgbClr val="E3E3E3"/>
                </a:solidFill>
                <a:latin typeface="Segoe UI Light"/>
              </a:rPr>
              <a:t>Redirect ARM API requests to Azure Resource Graph</a:t>
            </a:r>
          </a:p>
          <a:p>
            <a:r>
              <a:rPr sz="2400">
                <a:solidFill>
                  <a:srgbClr val="E3E3E3"/>
                </a:solidFill>
                <a:latin typeface="Segoe UI Light"/>
              </a:rPr>
              <a:t>Append &amp;useResourceGraph=true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Resource Graph in Dashboards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4AB66C-9191-EA75-8B50-9E7F7A19CA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3468" y="892968"/>
            <a:ext cx="8501064" cy="85010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Dashboards with ARG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Navigate the cloudy sea</a:t>
            </a:r>
          </a:p>
          <a:p>
            <a:pPr lvl="1"/>
            <a:r>
              <a:rPr lang="en-US" dirty="0"/>
              <a:t>ARG lets you query at scale</a:t>
            </a:r>
          </a:p>
          <a:p>
            <a:r>
              <a:rPr lang="en-US" dirty="0"/>
              <a:t>Find hidden treasures</a:t>
            </a:r>
          </a:p>
          <a:p>
            <a:pPr lvl="1"/>
            <a:r>
              <a:rPr lang="en-US" dirty="0"/>
              <a:t>Identify differences, misconfigurations, details</a:t>
            </a:r>
          </a:p>
          <a:p>
            <a:r>
              <a:rPr lang="en-US" dirty="0"/>
              <a:t>Hoist your sails anywhere</a:t>
            </a:r>
          </a:p>
          <a:p>
            <a:pPr lvl="1"/>
            <a:r>
              <a:rPr lang="en-US" dirty="0"/>
              <a:t>Use from Portal, VS Code (</a:t>
            </a:r>
            <a:r>
              <a:rPr lang="en-US" dirty="0" err="1"/>
              <a:t>bARGE</a:t>
            </a:r>
            <a:r>
              <a:rPr lang="en-US" dirty="0"/>
              <a:t>), CLI, dashboards, alerts and more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1600000" y="7900000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" name="TextBox 16"/>
          <p:cNvSpPr txBox="1"/>
          <p:nvPr/>
        </p:nvSpPr>
        <p:spPr>
          <a:xfrm>
            <a:off x="13980000" y="7870000"/>
            <a:ext cx="2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E3E3E3"/>
                </a:solidFill>
                <a:latin typeface="Segoe UI"/>
              </a:rPr>
              <a:t>@PalmEmanuel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 &amp; A!</a:t>
            </a:r>
          </a:p>
        </p:txBody>
      </p:sp>
      <p:sp>
        <p:nvSpPr>
          <p:cNvPr id="510" name="QR backing"/>
          <p:cNvSpPr/>
          <p:nvPr/>
        </p:nvSpPr>
        <p:spPr>
          <a:xfrm>
            <a:off x="738672" y="4599429"/>
            <a:ext cx="5076780" cy="50767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9" descr="A qr code with a black and white background&#10;&#10;AI-generated content may be incorrect.">
            <a:extLst>
              <a:ext uri="{FF2B5EF4-FFF2-40B4-BE49-F238E27FC236}">
                <a16:creationId xmlns:a16="http://schemas.microsoft.com/office/drawing/2014/main" id="{4E6443B0-86E8-6485-FE58-973B0772C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2" y="4719429"/>
            <a:ext cx="4836780" cy="48367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29297-A698-1EC1-A33D-BE6321A3B165}"/>
              </a:ext>
            </a:extLst>
          </p:cNvPr>
          <p:cNvSpPr txBox="1"/>
          <p:nvPr/>
        </p:nvSpPr>
        <p:spPr>
          <a:xfrm>
            <a:off x="5695452" y="8178842"/>
            <a:ext cx="6858000" cy="877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Install </a:t>
            </a:r>
            <a:r>
              <a:rPr lang="en-US" sz="4800" b="1" dirty="0" err="1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bARGE</a:t>
            </a:r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 here!</a:t>
            </a:r>
          </a:p>
        </p:txBody>
      </p:sp>
      <p:pic>
        <p:nvPicPr>
          <p:cNvPr id="13" name="Graphique 5">
            <a:extLst>
              <a:ext uri="{FF2B5EF4-FFF2-40B4-BE49-F238E27FC236}">
                <a16:creationId xmlns:a16="http://schemas.microsoft.com/office/drawing/2014/main" id="{2E721800-49C7-3E4F-4034-5E2868F2B5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5899790" y="5336380"/>
            <a:ext cx="2559393" cy="284246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440203"/>
      </p:ext>
    </p:extLst>
  </p:cSld>
  <p:clrMapOvr>
    <a:masterClrMapping/>
  </p:clrMapOvr>
</p:sld>
</file>

<file path=ppt/theme/theme1.xml><?xml version="1.0" encoding="utf-8"?>
<a:theme xmlns:a="http://schemas.openxmlformats.org/drawingml/2006/main" name="ELSE26">
  <a:themeElements>
    <a:clrScheme name="ELSE26">
      <a:dk1>
        <a:srgbClr val="E3E3E3"/>
      </a:dk1>
      <a:lt1>
        <a:srgbClr val="E3E3E3"/>
      </a:lt1>
      <a:dk2>
        <a:srgbClr val="C9E3EB"/>
      </a:dk2>
      <a:lt2>
        <a:srgbClr val="C9E3EB"/>
      </a:lt2>
      <a:accent1>
        <a:srgbClr val="1D3380"/>
      </a:accent1>
      <a:accent2>
        <a:srgbClr val="008BD2"/>
      </a:accent2>
      <a:accent3>
        <a:srgbClr val="E3E3E3"/>
      </a:accent3>
      <a:accent4>
        <a:srgbClr val="60B1E3"/>
      </a:accent4>
      <a:accent5>
        <a:srgbClr val="5B9BD5"/>
      </a:accent5>
      <a:accent6>
        <a:srgbClr val="2A93A4"/>
      </a:accent6>
      <a:hlink>
        <a:srgbClr val="9AC06A"/>
      </a:hlink>
      <a:folHlink>
        <a:srgbClr val="9AC06A"/>
      </a:folHlink>
    </a:clrScheme>
    <a:fontScheme name="ELSE26">
      <a:majorFont>
        <a:latin typeface="Segoe UI Light"/>
        <a:ea typeface=""/>
        <a:cs typeface="Segoe UI Light"/>
      </a:majorFont>
      <a:minorFont>
        <a:latin typeface="Segoe UI Light"/>
        <a:ea typeface=""/>
        <a:cs typeface="Segoe UI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LSE_template_v2.0.potx" id="{BE476902-E36F-41EA-B3FE-7F74ABD1DBF8}" vid="{AF7C9A2F-8D2C-4B64-A125-981CE64DCA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1fca98-92ba-4584-8d05-b623a44bff8b">
      <Terms xmlns="http://schemas.microsoft.com/office/infopath/2007/PartnerControls"/>
    </lcf76f155ced4ddcb4097134ff3c332f>
    <TaxCatchAll xmlns="510f3f9e-3839-48e4-9021-7d570598729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87289FD7FD044BA8CDFB27AA3ACB4D" ma:contentTypeVersion="12" ma:contentTypeDescription="Create a new document." ma:contentTypeScope="" ma:versionID="ffc60c7472a67f7db5cc5908976f4220">
  <xsd:schema xmlns:xsd="http://www.w3.org/2001/XMLSchema" xmlns:xs="http://www.w3.org/2001/XMLSchema" xmlns:p="http://schemas.microsoft.com/office/2006/metadata/properties" xmlns:ns2="dd1fca98-92ba-4584-8d05-b623a44bff8b" xmlns:ns3="510f3f9e-3839-48e4-9021-7d5705987296" targetNamespace="http://schemas.microsoft.com/office/2006/metadata/properties" ma:root="true" ma:fieldsID="a70f3c67f3c0a81d9cba91b8d514bdcb" ns2:_="" ns3:_="">
    <xsd:import namespace="dd1fca98-92ba-4584-8d05-b623a44bff8b"/>
    <xsd:import namespace="510f3f9e-3839-48e4-9021-7d57059872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1fca98-92ba-4584-8d05-b623a44bff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93df3c9-e0b1-41e3-a901-d28e2a6594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0f3f9e-3839-48e4-9021-7d570598729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10d76f-8790-4012-8716-a27c97c030b2}" ma:internalName="TaxCatchAll" ma:showField="CatchAllData" ma:web="510f3f9e-3839-48e4-9021-7d57059872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EE73F2-3A4A-4C36-9D33-162B297E8156}">
  <ds:schemaRefs>
    <ds:schemaRef ds:uri="http://schemas.microsoft.com/office/2006/metadata/properties"/>
    <ds:schemaRef ds:uri="http://www.w3.org/2000/xmlns/"/>
    <ds:schemaRef ds:uri="dd1fca98-92ba-4584-8d05-b623a44bff8b"/>
    <ds:schemaRef ds:uri="http://schemas.microsoft.com/office/infopath/2007/PartnerControls"/>
    <ds:schemaRef ds:uri="510f3f9e-3839-48e4-9021-7d5705987296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5FD23921-D1B3-4277-8367-4BA3F95E1C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D963D23-16B1-4453-AFAF-B17ED4489B8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d1fca98-92ba-4584-8d05-b623a44bff8b"/>
    <ds:schemaRef ds:uri="510f3f9e-3839-48e4-9021-7d5705987296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742</Words>
  <Application>Microsoft Macintosh PowerPoint</Application>
  <PresentationFormat>Custom</PresentationFormat>
  <Paragraphs>152</Paragraphs>
  <Slides>29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Aptos</vt:lpstr>
      <vt:lpstr>Arial</vt:lpstr>
      <vt:lpstr>Cascadia Code</vt:lpstr>
      <vt:lpstr>Consolas</vt:lpstr>
      <vt:lpstr>Montserrat ExtraBold</vt:lpstr>
      <vt:lpstr>Segoe UI</vt:lpstr>
      <vt:lpstr>Segoe UI Light</vt:lpstr>
      <vt:lpstr>Segoe UI Semibold</vt:lpstr>
      <vt:lpstr>Wingdings</vt:lpstr>
      <vt:lpstr>ELSE26</vt:lpstr>
      <vt:lpstr>PowerPoint Presentation</vt:lpstr>
      <vt:lpstr>What’s a pirate’s favorite Azure service? 🏴‍☠️</vt:lpstr>
      <vt:lpstr>PowerPoint Presentation</vt:lpstr>
      <vt:lpstr>Azure Resource Graph</vt:lpstr>
      <vt:lpstr>Azure Resource Graph Explorer</vt:lpstr>
      <vt:lpstr>Azure Resource Graph Explorer</vt:lpstr>
      <vt:lpstr>Azure Resource Graph Explorer</vt:lpstr>
      <vt:lpstr>boosted Azure Resource Graph Explorer</vt:lpstr>
      <vt:lpstr>boosted Azure Resource Graph Explorer</vt:lpstr>
      <vt:lpstr>PowerPoint Presentation</vt:lpstr>
      <vt:lpstr>PowerPoint Presentation</vt:lpstr>
      <vt:lpstr>PowerPoint Presentation</vt:lpstr>
      <vt:lpstr>Ways to use Azure Resource Graph</vt:lpstr>
      <vt:lpstr>ARG KQL Syntax</vt:lpstr>
      <vt:lpstr>Example Query</vt:lpstr>
      <vt:lpstr>Example Query</vt:lpstr>
      <vt:lpstr>Example Query</vt:lpstr>
      <vt:lpstr>PowerPoint Presentation</vt:lpstr>
      <vt:lpstr>Sharing Queries</vt:lpstr>
      <vt:lpstr>Tips &amp; Tricks</vt:lpstr>
      <vt:lpstr>Alerts with Azure Resource Graph</vt:lpstr>
      <vt:lpstr>PowerPoint Presentation</vt:lpstr>
      <vt:lpstr>Limitations</vt:lpstr>
      <vt:lpstr>ARG GET/LIST API</vt:lpstr>
      <vt:lpstr>Azure Resource Graph in Dashboards</vt:lpstr>
      <vt:lpstr>PowerPoint Presentation</vt:lpstr>
      <vt:lpstr>PowerPoint Presentation</vt:lpstr>
      <vt:lpstr>Q &amp; A!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Experts Live Sweden 2026</dc:title>
  <dc:subject/>
  <dc:creator/>
  <cp:lastModifiedBy>Emanuel Palm</cp:lastModifiedBy>
  <cp:revision>2</cp:revision>
  <dcterms:created xsi:type="dcterms:W3CDTF">2026-09-22T14:11:21Z</dcterms:created>
  <dcterms:modified xsi:type="dcterms:W3CDTF">2026-10-11T17:12:40Z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0x0101001C87289FD7FD044BA8CDFB27AA3ACB4D</vt:lpwstr>
  </property>
  <property fmtid="{D5CDD505-2E9C-101B-9397-08002B2CF9AE}" pid="4" name="MSIP_Label_fac13479-317c-4ee0-9f75-0b42393a703d_Enabled">
    <vt:lpwstr>true</vt:lpwstr>
  </property>
  <property fmtid="{D5CDD505-2E9C-101B-9397-08002B2CF9AE}" pid="5" name="MSIP_Label_fac13479-317c-4ee0-9f75-0b42393a703d_ContentBits">
    <vt:lpwstr>0</vt:lpwstr>
  </property>
  <property fmtid="{D5CDD505-2E9C-101B-9397-08002B2CF9AE}" pid="6" name="MSIP_Label_fac13479-317c-4ee0-9f75-0b42393a703d_Name">
    <vt:lpwstr>fac13479-317c-4ee0-9f75-0b42393a703d</vt:lpwstr>
  </property>
  <property fmtid="{D5CDD505-2E9C-101B-9397-08002B2CF9AE}" pid="7" name="MSIP_Label_fac13479-317c-4ee0-9f75-0b42393a703d_SiteId">
    <vt:lpwstr>43821605-9180-4e4d-86a3-b2925b41052d</vt:lpwstr>
  </property>
  <property fmtid="{D5CDD505-2E9C-101B-9397-08002B2CF9AE}" pid="8" name="MSIP_Label_fac13479-317c-4ee0-9f75-0b42393a703d_ActionId">
    <vt:lpwstr>37affe10-a468-4e40-bd71-5b7460918513</vt:lpwstr>
  </property>
  <property fmtid="{D5CDD505-2E9C-101B-9397-08002B2CF9AE}" pid="9" name="MSIP_Label_fac13479-317c-4ee0-9f75-0b42393a703d_Tag">
    <vt:lpwstr>10, 3, 0, 1</vt:lpwstr>
  </property>
  <property fmtid="{D5CDD505-2E9C-101B-9397-08002B2CF9AE}" pid="10" name="MSIP_Label_fac13479-317c-4ee0-9f75-0b42393a703d_Method">
    <vt:lpwstr>Standard</vt:lpwstr>
  </property>
  <property fmtid="{D5CDD505-2E9C-101B-9397-08002B2CF9AE}" pid="11" name="MSIP_Label_fac13479-317c-4ee0-9f75-0b42393a703d_SetDate">
    <vt:lpwstr>2026-04-28T11:09:56Z</vt:lpwstr>
  </property>
</Properties>
</file>